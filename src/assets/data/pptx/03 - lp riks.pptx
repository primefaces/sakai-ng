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2" r:id="rId2"/>
    <p:sldId id="256" r:id="rId3"/>
    <p:sldId id="257" r:id="rId4"/>
    <p:sldId id="261" r:id="rId5"/>
    <p:sldId id="260" r:id="rId6"/>
    <p:sldId id="259" r:id="rId7"/>
    <p:sldId id="258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153AC-CAEB-49D8-9DE8-953DA269194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180A7-7A42-41B9-A831-B8E68D62B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58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180A7-7A42-41B9-A831-B8E68D62B4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96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180A7-7A42-41B9-A831-B8E68D62B4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48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180A7-7A42-41B9-A831-B8E68D62B4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1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180A7-7A42-41B9-A831-B8E68D62B4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7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68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5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80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2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9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7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4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0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4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5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C60C5B-B1B9-4409-BEF2-0C6512FF503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BF615D6E-EB75-491A-9590-7FB0A3F57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7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 smtClean="0"/>
              <a:t>Xpt</a:t>
            </a:r>
            <a:r>
              <a:rPr lang="es-MX" dirty="0" smtClean="0"/>
              <a:t> / </a:t>
            </a:r>
            <a:r>
              <a:rPr lang="es-MX" dirty="0" err="1" smtClean="0"/>
              <a:t>lp</a:t>
            </a:r>
            <a:r>
              <a:rPr lang="es-MX" dirty="0" smtClean="0"/>
              <a:t> </a:t>
            </a:r>
            <a:r>
              <a:rPr lang="es-MX" dirty="0" err="1" smtClean="0"/>
              <a:t>risk</a:t>
            </a:r>
            <a:r>
              <a:rPr lang="es-MX" dirty="0" smtClean="0"/>
              <a:t>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726" y="5401254"/>
            <a:ext cx="1638427" cy="1189435"/>
          </a:xfrm>
          <a:prstGeom prst="rect">
            <a:avLst/>
          </a:prstGeom>
        </p:spPr>
      </p:pic>
      <p:pic>
        <p:nvPicPr>
          <p:cNvPr id="1026" name="Picture 2" descr="Profesional de grado industrial uso luminoso verde potente gran torre de carretera semi-camión tractor sin el semirremolque corriendo en la amplia carretera al almacén para recoger la siguiente carga de carg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40067" y1="34877" x2="40267" y2="34877"/>
                        <a14:backgroundMark x1="34533" y1="37875" x2="34533" y2="37875"/>
                        <a14:backgroundMark x1="30533" y1="44868" x2="30533" y2="44868"/>
                        <a14:backgroundMark x1="25600" y1="46866" x2="25600" y2="46866"/>
                        <a14:backgroundMark x1="25133" y1="53134" x2="25133" y2="53134"/>
                        <a14:backgroundMark x1="12467" y1="61035" x2="12467" y2="61035"/>
                        <a14:backgroundMark x1="49733" y1="34151" x2="49733" y2="34151"/>
                        <a14:backgroundMark x1="11000" y1="44051" x2="30733" y2="28247"/>
                        <a14:backgroundMark x1="64400" y1="35967" x2="74067" y2="65395"/>
                        <a14:backgroundMark x1="59733" y1="42507" x2="60333" y2="676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4394">
            <a:off x="10183820" y="4350998"/>
            <a:ext cx="1786236" cy="131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4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 smtClean="0"/>
              <a:t>CARRIERs</a:t>
            </a:r>
            <a:r>
              <a:rPr lang="es-MX" dirty="0" smtClean="0"/>
              <a:t>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err="1"/>
              <a:t>Accredited</a:t>
            </a:r>
            <a:r>
              <a:rPr lang="es-MX" dirty="0"/>
              <a:t> Specialty </a:t>
            </a:r>
            <a:r>
              <a:rPr lang="es-MX" dirty="0" err="1"/>
              <a:t>Insurance</a:t>
            </a:r>
            <a:r>
              <a:rPr lang="es-MX" dirty="0"/>
              <a:t> </a:t>
            </a:r>
            <a:r>
              <a:rPr lang="es-MX" dirty="0" smtClean="0"/>
              <a:t>Co</a:t>
            </a:r>
          </a:p>
          <a:p>
            <a:r>
              <a:rPr lang="es-MX" dirty="0" err="1" smtClean="0"/>
              <a:t>Lloyds</a:t>
            </a:r>
            <a:r>
              <a:rPr lang="es-MX" dirty="0" smtClean="0"/>
              <a:t> of London</a:t>
            </a:r>
          </a:p>
          <a:p>
            <a:r>
              <a:rPr lang="es-MX" dirty="0" err="1" smtClean="0"/>
              <a:t>Star</a:t>
            </a:r>
            <a:r>
              <a:rPr lang="es-MX" dirty="0" smtClean="0"/>
              <a:t>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726" y="5401254"/>
            <a:ext cx="1638427" cy="1189435"/>
          </a:xfrm>
          <a:prstGeom prst="rect">
            <a:avLst/>
          </a:prstGeom>
        </p:spPr>
      </p:pic>
      <p:pic>
        <p:nvPicPr>
          <p:cNvPr id="1026" name="Picture 2" descr="Profesional de grado industrial uso luminoso verde potente gran torre de carretera semi-camión tractor sin el semirremolque corriendo en la amplia carretera al almacén para recoger la siguiente carga de carg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40067" y1="34877" x2="40267" y2="34877"/>
                        <a14:backgroundMark x1="34533" y1="37875" x2="34533" y2="37875"/>
                        <a14:backgroundMark x1="30533" y1="44868" x2="30533" y2="44868"/>
                        <a14:backgroundMark x1="25600" y1="46866" x2="25600" y2="46866"/>
                        <a14:backgroundMark x1="25133" y1="53134" x2="25133" y2="53134"/>
                        <a14:backgroundMark x1="12467" y1="61035" x2="12467" y2="61035"/>
                        <a14:backgroundMark x1="49733" y1="34151" x2="49733" y2="34151"/>
                        <a14:backgroundMark x1="11000" y1="44051" x2="30733" y2="28247"/>
                        <a14:backgroundMark x1="64400" y1="35967" x2="74067" y2="65395"/>
                        <a14:backgroundMark x1="59733" y1="42507" x2="60333" y2="676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4394">
            <a:off x="10183820" y="4350998"/>
            <a:ext cx="1786236" cy="131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12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Tipos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Flatbed</a:t>
            </a:r>
            <a:endParaRPr lang="es-MX" dirty="0" smtClean="0"/>
          </a:p>
          <a:p>
            <a:r>
              <a:rPr lang="es-MX" dirty="0" smtClean="0"/>
              <a:t>Cars (SOLO ES AL)</a:t>
            </a:r>
          </a:p>
          <a:p>
            <a:r>
              <a:rPr lang="es-MX" dirty="0" err="1" smtClean="0"/>
              <a:t>Dry</a:t>
            </a:r>
            <a:r>
              <a:rPr lang="es-MX" dirty="0" smtClean="0"/>
              <a:t> van </a:t>
            </a:r>
          </a:p>
          <a:p>
            <a:r>
              <a:rPr lang="es-MX" dirty="0" err="1" smtClean="0"/>
              <a:t>Reffer</a:t>
            </a:r>
            <a:endParaRPr lang="es-MX" dirty="0" smtClean="0"/>
          </a:p>
          <a:p>
            <a:r>
              <a:rPr lang="es-MX" dirty="0" smtClean="0"/>
              <a:t>Frac </a:t>
            </a:r>
            <a:r>
              <a:rPr lang="es-MX" dirty="0" err="1" smtClean="0"/>
              <a:t>sand</a:t>
            </a:r>
            <a:r>
              <a:rPr lang="es-MX" dirty="0" smtClean="0"/>
              <a:t> </a:t>
            </a:r>
          </a:p>
          <a:p>
            <a:r>
              <a:rPr lang="es-MX" dirty="0" smtClean="0"/>
              <a:t>LOWBOY </a:t>
            </a:r>
            <a:r>
              <a:rPr lang="en-US" dirty="0"/>
              <a:t> </a:t>
            </a:r>
            <a:r>
              <a:rPr lang="en-US" dirty="0" smtClean="0"/>
              <a:t>-</a:t>
            </a:r>
            <a:r>
              <a:rPr lang="es-ES" dirty="0" smtClean="0"/>
              <a:t>Siempre </a:t>
            </a:r>
            <a:r>
              <a:rPr lang="es-ES" dirty="0"/>
              <a:t>y cuando NO haya cargas sobredimensionadas, sobrepeso, </a:t>
            </a:r>
            <a:r>
              <a:rPr lang="es-ES" dirty="0" err="1"/>
              <a:t>sobrealtura</a:t>
            </a:r>
            <a:r>
              <a:rPr lang="es-ES" dirty="0"/>
              <a:t> o </a:t>
            </a:r>
            <a:r>
              <a:rPr lang="es-ES" dirty="0" err="1"/>
              <a:t>sobrelongitud</a:t>
            </a:r>
            <a:r>
              <a:rPr lang="es-ES" dirty="0"/>
              <a:t>, podemos cotizar </a:t>
            </a:r>
            <a:r>
              <a:rPr lang="es-ES" dirty="0" smtClean="0"/>
              <a:t>con estas</a:t>
            </a:r>
            <a:r>
              <a:rPr lang="es-ES" dirty="0"/>
              <a:t>.</a:t>
            </a:r>
            <a:endParaRPr lang="es-MX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23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de operación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Intrastate</a:t>
            </a:r>
            <a:r>
              <a:rPr lang="es-MX" dirty="0" smtClean="0"/>
              <a:t>  &amp; </a:t>
            </a:r>
            <a:r>
              <a:rPr lang="es-MX" dirty="0" err="1" smtClean="0"/>
              <a:t>interstate</a:t>
            </a:r>
            <a:r>
              <a:rPr lang="es-MX" dirty="0" smtClean="0"/>
              <a:t> </a:t>
            </a:r>
          </a:p>
          <a:p>
            <a:endParaRPr lang="es-MX" dirty="0"/>
          </a:p>
          <a:p>
            <a:endParaRPr lang="es-MX" dirty="0" smtClean="0"/>
          </a:p>
          <a:p>
            <a:pPr marL="45720" indent="0">
              <a:buNone/>
            </a:pPr>
            <a:endParaRPr lang="es-MX" dirty="0"/>
          </a:p>
          <a:p>
            <a:r>
              <a:rPr lang="es-MX" dirty="0" smtClean="0"/>
              <a:t>AL,AZ,FL,GA,IL,IN,IA,KS,MS,MO,NC,NE,OH,OK,SC,TN,TX,WI</a:t>
            </a:r>
          </a:p>
        </p:txBody>
      </p:sp>
    </p:spTree>
    <p:extLst>
      <p:ext uri="{BB962C8B-B14F-4D97-AF65-F5344CB8AC3E}">
        <p14:creationId xmlns:p14="http://schemas.microsoft.com/office/powerpoint/2010/main" val="12603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000" dirty="0" smtClean="0"/>
              <a:t>21 YEARS </a:t>
            </a:r>
            <a:r>
              <a:rPr lang="en-US" sz="2000" dirty="0"/>
              <a:t> </a:t>
            </a:r>
            <a:r>
              <a:rPr lang="en-US" sz="2000" dirty="0" smtClean="0"/>
              <a:t>- Sometimes </a:t>
            </a:r>
            <a:r>
              <a:rPr lang="en-US" sz="2000" dirty="0"/>
              <a:t>I can get them approved, if they are not driving. It is something that has to be submitted to </a:t>
            </a:r>
            <a:r>
              <a:rPr lang="en-US" sz="2000" dirty="0" err="1"/>
              <a:t>Trisura</a:t>
            </a:r>
            <a:r>
              <a:rPr lang="en-US" sz="2000" dirty="0"/>
              <a:t> to find out</a:t>
            </a:r>
            <a:r>
              <a:rPr lang="en-US" sz="2000" dirty="0" smtClean="0"/>
              <a:t>. They </a:t>
            </a:r>
            <a:r>
              <a:rPr lang="en-US" sz="2000" dirty="0"/>
              <a:t>will definitely not approve, if the owner has a CDL. </a:t>
            </a:r>
          </a:p>
        </p:txBody>
      </p:sp>
    </p:spTree>
    <p:extLst>
      <p:ext uri="{BB962C8B-B14F-4D97-AF65-F5344CB8AC3E}">
        <p14:creationId xmlns:p14="http://schemas.microsoft.com/office/powerpoint/2010/main" val="2852984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LIABILITY </a:t>
            </a:r>
          </a:p>
          <a:p>
            <a:r>
              <a:rPr lang="es-MX" dirty="0" smtClean="0"/>
              <a:t>CARGO </a:t>
            </a:r>
          </a:p>
          <a:p>
            <a:r>
              <a:rPr lang="es-MX" dirty="0" smtClean="0"/>
              <a:t>PHYSICAL DAMAGE</a:t>
            </a:r>
          </a:p>
          <a:p>
            <a:r>
              <a:rPr lang="es-MX" dirty="0" smtClean="0"/>
              <a:t>GENERAL LIABILITY </a:t>
            </a:r>
          </a:p>
          <a:p>
            <a:r>
              <a:rPr lang="es-MX" dirty="0" smtClean="0"/>
              <a:t>WORKERS COMP 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07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	</a:t>
            </a:r>
            <a:r>
              <a:rPr lang="es-MX" dirty="0" err="1" smtClean="0"/>
              <a:t>additional</a:t>
            </a:r>
            <a:r>
              <a:rPr lang="es-MX" dirty="0" smtClean="0"/>
              <a:t> &amp; </a:t>
            </a:r>
            <a:r>
              <a:rPr lang="es-MX" dirty="0" err="1" smtClean="0"/>
              <a:t>wos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No cuesta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726" y="5401254"/>
            <a:ext cx="1638427" cy="1189435"/>
          </a:xfrm>
          <a:prstGeom prst="rect">
            <a:avLst/>
          </a:prstGeom>
        </p:spPr>
      </p:pic>
      <p:pic>
        <p:nvPicPr>
          <p:cNvPr id="1026" name="Picture 2" descr="Profesional de grado industrial uso luminoso verde potente gran torre de carretera semi-camión tractor sin el semirremolque corriendo en la amplia carretera al almacén para recoger la siguiente carga de carg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40067" y1="34877" x2="40267" y2="34877"/>
                        <a14:backgroundMark x1="34533" y1="37875" x2="34533" y2="37875"/>
                        <a14:backgroundMark x1="30533" y1="44868" x2="30533" y2="44868"/>
                        <a14:backgroundMark x1="25600" y1="46866" x2="25600" y2="46866"/>
                        <a14:backgroundMark x1="25133" y1="53134" x2="25133" y2="53134"/>
                        <a14:backgroundMark x1="12467" y1="61035" x2="12467" y2="61035"/>
                        <a14:backgroundMark x1="49733" y1="34151" x2="49733" y2="34151"/>
                        <a14:backgroundMark x1="11000" y1="44051" x2="30733" y2="28247"/>
                        <a14:backgroundMark x1="64400" y1="35967" x2="74067" y2="65395"/>
                        <a14:backgroundMark x1="59733" y1="42507" x2="60333" y2="676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4394">
            <a:off x="10183820" y="4350998"/>
            <a:ext cx="1786236" cy="131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51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	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726" y="5401254"/>
            <a:ext cx="1638427" cy="1189435"/>
          </a:xfrm>
          <a:prstGeom prst="rect">
            <a:avLst/>
          </a:prstGeom>
        </p:spPr>
      </p:pic>
      <p:pic>
        <p:nvPicPr>
          <p:cNvPr id="1026" name="Picture 2" descr="Profesional de grado industrial uso luminoso verde potente gran torre de carretera semi-camión tractor sin el semirremolque corriendo en la amplia carretera al almacén para recoger la siguiente carga de carg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40067" y1="34877" x2="40267" y2="34877"/>
                        <a14:backgroundMark x1="34533" y1="37875" x2="34533" y2="37875"/>
                        <a14:backgroundMark x1="30533" y1="44868" x2="30533" y2="44868"/>
                        <a14:backgroundMark x1="25600" y1="46866" x2="25600" y2="46866"/>
                        <a14:backgroundMark x1="25133" y1="53134" x2="25133" y2="53134"/>
                        <a14:backgroundMark x1="12467" y1="61035" x2="12467" y2="61035"/>
                        <a14:backgroundMark x1="49733" y1="34151" x2="49733" y2="34151"/>
                        <a14:backgroundMark x1="11000" y1="44051" x2="30733" y2="28247"/>
                        <a14:backgroundMark x1="64400" y1="35967" x2="74067" y2="65395"/>
                        <a14:backgroundMark x1="59733" y1="42507" x2="60333" y2="676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4394">
            <a:off x="10183820" y="4350998"/>
            <a:ext cx="1786236" cy="131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8625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60</TotalTime>
  <Words>120</Words>
  <Application>Microsoft Office PowerPoint</Application>
  <PresentationFormat>Widescreen</PresentationFormat>
  <Paragraphs>33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Corbel</vt:lpstr>
      <vt:lpstr>Basis</vt:lpstr>
      <vt:lpstr>Xpt / lp risk </vt:lpstr>
      <vt:lpstr>CARRIERs </vt:lpstr>
      <vt:lpstr>Tipos de negocio</vt:lpstr>
      <vt:lpstr>Radio de operación </vt:lpstr>
      <vt:lpstr>Drivers / unidades</vt:lpstr>
      <vt:lpstr>Coberturas </vt:lpstr>
      <vt:lpstr> additional &amp; wos</vt:lpstr>
      <vt:lpstr>Contactos via email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CARRIER </dc:title>
  <dc:creator>pp</dc:creator>
  <cp:lastModifiedBy>pp</cp:lastModifiedBy>
  <cp:revision>8</cp:revision>
  <dcterms:created xsi:type="dcterms:W3CDTF">2025-05-27T17:28:08Z</dcterms:created>
  <dcterms:modified xsi:type="dcterms:W3CDTF">2025-10-08T22:48:47Z</dcterms:modified>
</cp:coreProperties>
</file>