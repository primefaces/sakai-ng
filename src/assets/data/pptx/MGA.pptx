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3"/>
  </p:notesMasterIdLst>
  <p:sldIdLst>
    <p:sldId id="262" r:id="rId2"/>
    <p:sldId id="263" r:id="rId3"/>
    <p:sldId id="264" r:id="rId4"/>
    <p:sldId id="265" r:id="rId5"/>
    <p:sldId id="266" r:id="rId6"/>
    <p:sldId id="282" r:id="rId7"/>
    <p:sldId id="267" r:id="rId8"/>
    <p:sldId id="268" r:id="rId9"/>
    <p:sldId id="269" r:id="rId10"/>
    <p:sldId id="279" r:id="rId11"/>
    <p:sldId id="280" r:id="rId12"/>
    <p:sldId id="271" r:id="rId13"/>
    <p:sldId id="283" r:id="rId14"/>
    <p:sldId id="286" r:id="rId15"/>
    <p:sldId id="284" r:id="rId16"/>
    <p:sldId id="285" r:id="rId17"/>
    <p:sldId id="272" r:id="rId18"/>
    <p:sldId id="273" r:id="rId19"/>
    <p:sldId id="274" r:id="rId20"/>
    <p:sldId id="276" r:id="rId21"/>
    <p:sldId id="277" r:id="rId22"/>
    <p:sldId id="278" r:id="rId23"/>
    <p:sldId id="281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D4E94670-400F-489E-AA87-2ECE6545D768}">
          <p14:sldIdLst>
            <p14:sldId id="262"/>
            <p14:sldId id="263"/>
            <p14:sldId id="264"/>
            <p14:sldId id="265"/>
            <p14:sldId id="266"/>
            <p14:sldId id="282"/>
            <p14:sldId id="267"/>
            <p14:sldId id="268"/>
            <p14:sldId id="269"/>
            <p14:sldId id="279"/>
            <p14:sldId id="280"/>
            <p14:sldId id="271"/>
            <p14:sldId id="283"/>
            <p14:sldId id="286"/>
            <p14:sldId id="284"/>
            <p14:sldId id="285"/>
            <p14:sldId id="272"/>
            <p14:sldId id="273"/>
            <p14:sldId id="274"/>
            <p14:sldId id="276"/>
            <p14:sldId id="277"/>
            <p14:sldId id="278"/>
            <p14:sldId id="281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us" initials="J" lastIdx="2" clrIdx="0">
    <p:extLst>
      <p:ext uri="{19B8F6BF-5375-455C-9EA6-DF929625EA0E}">
        <p15:presenceInfo xmlns:p15="http://schemas.microsoft.com/office/powerpoint/2012/main" userId="Jan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3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B0CB1-0FB1-4C61-819E-95A9EF69D9BB}" type="datetimeFigureOut">
              <a:rPr lang="es-MX" smtClean="0"/>
              <a:t>13/06/2023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ED17B-B594-4B68-9D80-F1A98C90C86B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904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049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503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250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817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04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515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80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816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937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803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236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0344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751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949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656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32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DF8FD-5FDF-4694-8C41-B49862DEB620}" type="datetimeFigureOut">
              <a:rPr lang="es-CO" smtClean="0"/>
              <a:t>13/06/2023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34BEDD-9034-427E-81CF-E812B1A2564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49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3" Type="http://schemas.openxmlformats.org/officeDocument/2006/relationships/slide" Target="slide2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2" Type="http://schemas.openxmlformats.org/officeDocument/2006/relationships/audio" Target="../media/audio1.wav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32" Type="http://schemas.openxmlformats.org/officeDocument/2006/relationships/audio" Target="../media/audio1.wav"/><Relationship Id="rId5" Type="http://schemas.openxmlformats.org/officeDocument/2006/relationships/slide" Target="slide4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slide" Target="slide28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31" Type="http://schemas.openxmlformats.org/officeDocument/2006/relationships/image" Target="../media/image1.png"/><Relationship Id="rId4" Type="http://schemas.openxmlformats.org/officeDocument/2006/relationships/slide" Target="slide3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Relationship Id="rId30" Type="http://schemas.openxmlformats.org/officeDocument/2006/relationships/slide" Target="slide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RST%20%20CAPITAL/Authorization%20for%20Release%20of%20Loss%20History%20Information.pd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6ADC9-7E2D-4CF1-B6A8-3F91C837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3912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tx2"/>
                </a:solidFill>
              </a:rPr>
              <a:t>AJM INSURANCE &amp; TRUCKING SERVICE</a:t>
            </a:r>
            <a:endParaRPr lang="es-CO" sz="3200" b="1" dirty="0">
              <a:solidFill>
                <a:schemeClr val="tx2"/>
              </a:solidFill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FB75117-CA7B-43B4-AA4F-738187BE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021556"/>
            <a:ext cx="8920900" cy="823912"/>
          </a:xfrm>
        </p:spPr>
        <p:txBody>
          <a:bodyPr/>
          <a:lstStyle/>
          <a:p>
            <a:r>
              <a:rPr lang="es-ES" sz="2000" dirty="0">
                <a:solidFill>
                  <a:srgbClr val="002060"/>
                </a:solidFill>
              </a:rPr>
              <a:t>Presentación de generalidades de las compañías aseguradoras:</a:t>
            </a:r>
          </a:p>
          <a:p>
            <a:endParaRPr lang="es-CO" sz="1800" i="1" dirty="0">
              <a:solidFill>
                <a:srgbClr val="7030A0"/>
              </a:solidFill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67D32E-EBD3-4D3D-9C86-C6A24C2DF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524336"/>
            <a:ext cx="4185623" cy="4321690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ROCKLAKE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TX // FL )                               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LP RISK </a:t>
            </a:r>
            <a:r>
              <a:rPr lang="es-ES" u="sn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(XPT)</a:t>
            </a:r>
            <a:r>
              <a:rPr lang="es-E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s-ES" u="sng" dirty="0">
                <a:solidFill>
                  <a:schemeClr val="tx1"/>
                </a:solidFill>
              </a:rPr>
              <a:t>(TX // 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AMWINS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u="sng" dirty="0">
                <a:solidFill>
                  <a:schemeClr val="tx1"/>
                </a:solidFill>
              </a:rPr>
              <a:t>(TX // 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QUALITAS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u="sng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QEO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u="sng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BASS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(TX // 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CRC GROUP</a:t>
            </a:r>
            <a:r>
              <a:rPr lang="es-ES" u="sng" dirty="0">
                <a:solidFill>
                  <a:schemeClr val="tx1"/>
                </a:solidFill>
              </a:rPr>
              <a:t>(OK//TX)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ACROSS AMERICAN</a:t>
            </a:r>
            <a:r>
              <a:rPr lang="es-ES">
                <a:solidFill>
                  <a:schemeClr val="tx1"/>
                </a:solidFill>
              </a:rPr>
              <a:t>(TX)</a:t>
            </a: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COVERWHALE</a:t>
            </a:r>
            <a:r>
              <a:rPr lang="es-ES" dirty="0">
                <a:solidFill>
                  <a:schemeClr val="tx1"/>
                </a:solidFill>
              </a:rPr>
              <a:t>(TX//CA)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BRECH &amp; ASOSIATES </a:t>
            </a:r>
            <a:r>
              <a:rPr lang="es-ES" dirty="0">
                <a:solidFill>
                  <a:schemeClr val="tx1"/>
                </a:solidFill>
              </a:rPr>
              <a:t>(TX//OK)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BROOKLYN</a:t>
            </a:r>
            <a:r>
              <a:rPr lang="es-ES" dirty="0">
                <a:solidFill>
                  <a:schemeClr val="tx1"/>
                </a:solidFill>
              </a:rPr>
              <a:t>(TX//FL)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BULLDOG NATIONAL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TEXAS SPECIALITY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UNIVERSAL CASUALTY</a:t>
            </a:r>
            <a:r>
              <a:rPr lang="es-ES" dirty="0">
                <a:solidFill>
                  <a:schemeClr val="tx1"/>
                </a:solidFill>
              </a:rPr>
              <a:t>(TX//CA//FL)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tx1"/>
                </a:solidFill>
              </a:rPr>
              <a:t>SOUTHWEST RISK(TX//CA)</a:t>
            </a:r>
          </a:p>
          <a:p>
            <a:pPr marL="0" indent="0">
              <a:buClr>
                <a:schemeClr val="tx2"/>
              </a:buClr>
              <a:buNone/>
            </a:pP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endParaRPr lang="es-ES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4A036143-E72A-4F0B-9378-470BADE41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75668" y="1524336"/>
            <a:ext cx="4185617" cy="4381514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80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NTA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CAPITAL</a:t>
            </a:r>
            <a:r>
              <a:rPr lang="es-ES" dirty="0">
                <a:solidFill>
                  <a:schemeClr val="tx1"/>
                </a:solidFill>
              </a:rPr>
              <a:t>(TX//CA//AZ)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PROGRESSIVE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PARAMOUNT</a:t>
            </a:r>
            <a:r>
              <a:rPr lang="es-ES" dirty="0">
                <a:solidFill>
                  <a:schemeClr val="tx1"/>
                </a:solidFill>
              </a:rPr>
              <a:t>(CA//TX)</a:t>
            </a:r>
            <a:r>
              <a:rPr lang="es-ES" baseline="-25000" dirty="0">
                <a:solidFill>
                  <a:schemeClr val="tx1"/>
                </a:solidFill>
              </a:rPr>
              <a:t>{</a:t>
            </a:r>
            <a:r>
              <a:rPr lang="es-ES" baseline="-25000" dirty="0" err="1">
                <a:solidFill>
                  <a:schemeClr val="tx1"/>
                </a:solidFill>
              </a:rPr>
              <a:t>pd</a:t>
            </a:r>
            <a:r>
              <a:rPr lang="es-ES" baseline="-25000" dirty="0">
                <a:solidFill>
                  <a:schemeClr val="tx1"/>
                </a:solidFill>
              </a:rPr>
              <a:t> y </a:t>
            </a:r>
            <a:r>
              <a:rPr lang="es-ES" baseline="-25000" dirty="0" err="1">
                <a:solidFill>
                  <a:schemeClr val="tx1"/>
                </a:solidFill>
              </a:rPr>
              <a:t>mtc</a:t>
            </a:r>
            <a:r>
              <a:rPr lang="es-ES" baseline="-25000" dirty="0">
                <a:solidFill>
                  <a:schemeClr val="tx1"/>
                </a:solidFill>
              </a:rPr>
              <a:t> si </a:t>
            </a:r>
            <a:r>
              <a:rPr lang="es-ES" baseline="-25000" dirty="0" err="1">
                <a:solidFill>
                  <a:schemeClr val="tx1"/>
                </a:solidFill>
              </a:rPr>
              <a:t>available</a:t>
            </a:r>
            <a:r>
              <a:rPr lang="es-ES" baseline="-25000" dirty="0">
                <a:solidFill>
                  <a:schemeClr val="tx1"/>
                </a:solidFill>
              </a:rPr>
              <a:t> en FL}</a:t>
            </a: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TREATY</a:t>
            </a:r>
            <a:r>
              <a:rPr lang="es-ES" dirty="0">
                <a:solidFill>
                  <a:schemeClr val="tx1"/>
                </a:solidFill>
              </a:rPr>
              <a:t>(OK//TX)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SGA SOUTHERN GENERAL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CANAL</a:t>
            </a:r>
            <a:r>
              <a:rPr lang="es-ES" dirty="0">
                <a:solidFill>
                  <a:schemeClr val="tx1"/>
                </a:solidFill>
              </a:rPr>
              <a:t>(TX//FL)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Crum &amp; Foster</a:t>
            </a:r>
            <a:endParaRPr lang="es-ES" dirty="0">
              <a:solidFill>
                <a:schemeClr val="accent2"/>
              </a:solidFill>
            </a:endParaRP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Great </a:t>
            </a:r>
            <a:r>
              <a:rPr lang="es-ES" dirty="0" err="1">
                <a:solidFill>
                  <a:schemeClr val="accent2"/>
                </a:solidFill>
                <a:hlinkClick r:id="rId2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west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MTM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SOUTHWIND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2"/>
                </a:solidFill>
                <a:hlinkClick r:id="rId2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TIP NATIONAL</a:t>
            </a:r>
            <a:r>
              <a:rPr lang="es-ES" dirty="0">
                <a:solidFill>
                  <a:schemeClr val="tx1"/>
                </a:solidFill>
              </a:rPr>
              <a:t>(TX)</a:t>
            </a:r>
          </a:p>
          <a:p>
            <a:pPr>
              <a:buClr>
                <a:schemeClr val="tx2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BRAZOS*BSRI*(</a:t>
            </a:r>
            <a:r>
              <a:rPr lang="es-ES" dirty="0">
                <a:solidFill>
                  <a:schemeClr val="tx1"/>
                </a:solidFill>
              </a:rPr>
              <a:t>TX//FL)</a:t>
            </a:r>
          </a:p>
          <a:p>
            <a:pPr marL="0" indent="0">
              <a:buClr>
                <a:schemeClr val="tx2"/>
              </a:buClr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>
              <a:buClr>
                <a:schemeClr val="tx2"/>
              </a:buClr>
              <a:buNone/>
            </a:pP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endParaRPr lang="es-ES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6ACA6C-9D23-41EB-AF40-D94B5616BB4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63754" y="272737"/>
            <a:ext cx="1412789" cy="12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8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2" name="coin.wav"/>
          </p:stSnd>
        </p:sndAc>
      </p:transition>
    </mc:Choice>
    <mc:Fallback xmlns="">
      <p:transition spd="med">
        <p:fade/>
        <p:sndAc>
          <p:stSnd>
            <p:snd r:embed="rId32" name="coin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B33F-F6EA-493E-87A8-5C58D31E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90043"/>
            <a:ext cx="8596668" cy="1320800"/>
          </a:xfrm>
        </p:spPr>
        <p:txBody>
          <a:bodyPr/>
          <a:lstStyle/>
          <a:p>
            <a:r>
              <a:rPr lang="es-MX" dirty="0"/>
              <a:t>MGA: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C1C60-6352-4D86-B639-470283337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836" y="2860964"/>
            <a:ext cx="1396336" cy="1896882"/>
          </a:xfrm>
        </p:spPr>
        <p:txBody>
          <a:bodyPr>
            <a:normAutofit fontScale="400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CANAL  - AL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PROGRESIVE  - AL-MTC-PD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PALOMAR –MTC / 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AMERICAN   -MTC / 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LAKES    MTC / PD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CANOPIUS   MTC / PD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AI (American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Interfidelity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)-MTC / PD</a:t>
            </a:r>
          </a:p>
        </p:txBody>
      </p:sp>
      <p:sp>
        <p:nvSpPr>
          <p:cNvPr id="8" name="Ribbon: Curved and Tilted Up 7">
            <a:hlinkClick r:id="rId2" action="ppaction://hlinksldjump"/>
            <a:extLst>
              <a:ext uri="{FF2B5EF4-FFF2-40B4-BE49-F238E27FC236}">
                <a16:creationId xmlns:a16="http://schemas.microsoft.com/office/drawing/2014/main" id="{E6F8B881-A1FD-444C-B69E-BE07C13B5EB9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781396" y="2344189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CARRIER </a:t>
            </a:r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4009960" y="3139755"/>
            <a:ext cx="56289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Generalmente</a:t>
            </a:r>
            <a:r>
              <a:rPr lang="en-US" dirty="0"/>
              <a:t> lo </a:t>
            </a:r>
            <a:r>
              <a:rPr lang="en-US" dirty="0" err="1"/>
              <a:t>cotizamos</a:t>
            </a:r>
            <a:r>
              <a:rPr lang="en-US" dirty="0"/>
              <a:t>, </a:t>
            </a:r>
            <a:r>
              <a:rPr lang="en-US" dirty="0" err="1"/>
              <a:t>cuando</a:t>
            </a:r>
            <a:r>
              <a:rPr lang="en-US" dirty="0"/>
              <a:t> son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negocios</a:t>
            </a:r>
            <a:r>
              <a:rPr lang="en-US" dirty="0"/>
              <a:t>, O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renovacion</a:t>
            </a:r>
            <a:r>
              <a:rPr lang="en-US" dirty="0"/>
              <a:t> 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oficina</a:t>
            </a:r>
            <a:r>
              <a:rPr lang="en-US" dirty="0"/>
              <a:t>, por 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piden</a:t>
            </a:r>
            <a:r>
              <a:rPr lang="en-US" dirty="0"/>
              <a:t> </a:t>
            </a:r>
            <a:r>
              <a:rPr lang="en-US" dirty="0" err="1"/>
              <a:t>ademas</a:t>
            </a:r>
            <a:r>
              <a:rPr lang="en-US" dirty="0"/>
              <a:t> de loss runs, declaration page, y de no </a:t>
            </a:r>
            <a:r>
              <a:rPr lang="en-US" dirty="0" err="1"/>
              <a:t>mandarlo</a:t>
            </a:r>
            <a:r>
              <a:rPr lang="en-US" dirty="0"/>
              <a:t> le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cancelar</a:t>
            </a:r>
            <a:r>
              <a:rPr lang="en-US" dirty="0"/>
              <a:t> o </a:t>
            </a:r>
            <a:r>
              <a:rPr lang="en-US" dirty="0" err="1"/>
              <a:t>subir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endParaRPr lang="en-US" dirty="0"/>
          </a:p>
          <a:p>
            <a:r>
              <a:rPr lang="en-US" dirty="0"/>
              <a:t>*No </a:t>
            </a:r>
            <a:r>
              <a:rPr lang="en-US" dirty="0" err="1"/>
              <a:t>aceptan</a:t>
            </a:r>
            <a:r>
              <a:rPr lang="en-US" dirty="0"/>
              <a:t> </a:t>
            </a:r>
            <a:r>
              <a:rPr lang="en-US" dirty="0" err="1"/>
              <a:t>lic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C </a:t>
            </a:r>
          </a:p>
          <a:p>
            <a:r>
              <a:rPr lang="es-MX" sz="1800" u="none" strike="noStrike" dirty="0">
                <a:effectLst/>
              </a:rPr>
              <a:t>*Debe tener entre 23 y 75 años</a:t>
            </a:r>
            <a:endParaRPr lang="es-MX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s-MX" sz="1800" u="none" strike="noStrike" dirty="0">
                <a:effectLst/>
              </a:rPr>
              <a:t>*Todos los conductores deben tener un mínimo de 2 años (24 meses consecutivos) de experiencia CDL.</a:t>
            </a:r>
            <a:endParaRPr lang="es-MX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1461B-4C86-4FEC-B633-F8C86D8F6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6" y="806101"/>
            <a:ext cx="4188315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90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E808E-BB50-4D25-A304-02EF93180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847" y="1548507"/>
            <a:ext cx="4185623" cy="576262"/>
          </a:xfrm>
        </p:spPr>
        <p:txBody>
          <a:bodyPr/>
          <a:lstStyle/>
          <a:p>
            <a:r>
              <a:rPr lang="es-ES" sz="2800" dirty="0">
                <a:solidFill>
                  <a:schemeClr val="bg2">
                    <a:lumMod val="50000"/>
                  </a:schemeClr>
                </a:solidFill>
              </a:rPr>
              <a:t>LPRISK (XPT)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9DFD2-40FF-4F20-9EB9-89A08FE47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87605" y="2879858"/>
            <a:ext cx="2864409" cy="1784421"/>
          </a:xfrm>
        </p:spPr>
        <p:txBody>
          <a:bodyPr>
            <a:normAutofit fontScale="550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TRISURA (AL)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LLOYDS – MTC –PD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AMERICAN  - MTC - PD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AMERICAN INTERFIDELITY  MTC-PD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HALLMARK –GL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BURLINGTON- GL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s-MX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3ADE172F-6CBF-4192-A23C-543F71CE533B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A57A6-049E-47D6-8370-DE02845C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03" y="250354"/>
            <a:ext cx="2505075" cy="1771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125A46-D35D-4E69-88EF-A16BF231D05D}"/>
              </a:ext>
            </a:extLst>
          </p:cNvPr>
          <p:cNvSpPr txBox="1"/>
          <p:nvPr/>
        </p:nvSpPr>
        <p:spPr>
          <a:xfrm>
            <a:off x="709618" y="2304494"/>
            <a:ext cx="37868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*Edad mínima de 23 años</a:t>
            </a:r>
          </a:p>
          <a:p>
            <a:r>
              <a:rPr lang="es-MX" dirty="0"/>
              <a:t>*ACEPTAN CONDUCTORES MEXICANOS CON COPIA DE CDL A COLOR</a:t>
            </a:r>
          </a:p>
          <a:p>
            <a:r>
              <a:rPr lang="es-MX" dirty="0"/>
              <a:t>*Se requieren 2 años de experiencia en el transporte de mercancías similares</a:t>
            </a:r>
          </a:p>
        </p:txBody>
      </p:sp>
    </p:spTree>
    <p:extLst>
      <p:ext uri="{BB962C8B-B14F-4D97-AF65-F5344CB8AC3E}">
        <p14:creationId xmlns:p14="http://schemas.microsoft.com/office/powerpoint/2010/main" val="147231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C6092-88CF-4096-8538-A0F2CD440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831" y="1824465"/>
            <a:ext cx="1403135" cy="1096507"/>
          </a:xfrm>
        </p:spPr>
        <p:txBody>
          <a:bodyPr>
            <a:normAutofit fontScale="62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NICO/CANAL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CANOPIUS</a:t>
            </a:r>
          </a:p>
          <a:p>
            <a:pPr marL="0" indent="0">
              <a:buNone/>
            </a:pPr>
            <a:endParaRPr lang="es-MX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26DEC46F-4967-4D90-BBD8-A4E62216810B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3078531" y="1557682"/>
            <a:ext cx="651505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 se </a:t>
            </a:r>
            <a:r>
              <a:rPr lang="en-US" dirty="0" err="1"/>
              <a:t>hace</a:t>
            </a:r>
            <a:r>
              <a:rPr lang="en-US" dirty="0"/>
              <a:t> monoline </a:t>
            </a:r>
          </a:p>
          <a:p>
            <a:r>
              <a:rPr lang="en-US" dirty="0"/>
              <a:t>*</a:t>
            </a:r>
            <a:r>
              <a:rPr lang="en-US" dirty="0" err="1"/>
              <a:t>Carros</a:t>
            </a:r>
            <a:r>
              <a:rPr lang="en-US" dirty="0"/>
              <a:t>, 50% y 50%</a:t>
            </a:r>
          </a:p>
          <a:p>
            <a:r>
              <a:rPr lang="es-MX" dirty="0"/>
              <a:t>*</a:t>
            </a:r>
            <a:r>
              <a:rPr lang="en-US" dirty="0"/>
              <a:t>NEW VENTURE(PICKUP OR DUMP TRUCK) NO,NO INTRASTATE</a:t>
            </a:r>
          </a:p>
          <a:p>
            <a:r>
              <a:rPr lang="en-US" dirty="0"/>
              <a:t>*BOX TRUCKs are now acceptable with drivers having a CDL A</a:t>
            </a:r>
          </a:p>
          <a:p>
            <a:r>
              <a:rPr lang="en-US" dirty="0"/>
              <a:t>*WORKS IN FL </a:t>
            </a:r>
            <a:r>
              <a:rPr lang="en-US" dirty="0" err="1"/>
              <a:t>pero</a:t>
            </a:r>
            <a:r>
              <a:rPr lang="en-US" dirty="0"/>
              <a:t> solo para </a:t>
            </a:r>
            <a:r>
              <a:rPr lang="en-US" dirty="0" err="1"/>
              <a:t>renovaciones</a:t>
            </a:r>
            <a:endParaRPr lang="en-US" dirty="0"/>
          </a:p>
          <a:p>
            <a:r>
              <a:rPr lang="en-US" dirty="0"/>
              <a:t>*</a:t>
            </a:r>
            <a:r>
              <a:rPr lang="en-US" dirty="0" err="1"/>
              <a:t>si</a:t>
            </a:r>
            <a:r>
              <a:rPr lang="en-US" dirty="0"/>
              <a:t> es de FL debe ser interstate</a:t>
            </a:r>
          </a:p>
          <a:p>
            <a:endParaRPr lang="en-US" dirty="0"/>
          </a:p>
          <a:p>
            <a:endParaRPr lang="en-US" dirty="0"/>
          </a:p>
          <a:p>
            <a:endParaRPr lang="es-MX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1B3E0-A302-4696-A92C-EF5897DBE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8" y="141772"/>
            <a:ext cx="2882592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1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B5FB5-E50A-4D8B-93BA-C22E68A25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967577"/>
            <a:ext cx="4185623" cy="3304117"/>
          </a:xfrm>
        </p:spPr>
        <p:txBody>
          <a:bodyPr/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QUALITAS (AL) (MTC) (PO)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35330D1E-5AB0-4055-96D2-F2059B533F9E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58659" y="2681927"/>
            <a:ext cx="43638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</a:t>
            </a:r>
            <a:r>
              <a:rPr lang="es-MX" dirty="0"/>
              <a:t>Todos los nuevos conductores de empresas deben tener al menos 28 años.</a:t>
            </a:r>
          </a:p>
          <a:p>
            <a:r>
              <a:rPr lang="es-MX" dirty="0"/>
              <a:t>*Los conductores deben poseer un mínimo de dos (2) años de experiencia de conducción con equipos similares</a:t>
            </a:r>
          </a:p>
          <a:p>
            <a:r>
              <a:rPr lang="es-MX" dirty="0"/>
              <a:t>*el dueño de la entidad debe ser residente de E.U y contar con licencia de conducir valida E.U</a:t>
            </a:r>
          </a:p>
          <a:p>
            <a:r>
              <a:rPr lang="es-MX" dirty="0"/>
              <a:t>Al 1,000,000 y 750,000</a:t>
            </a:r>
          </a:p>
          <a:p>
            <a:endParaRPr lang="en-US" dirty="0"/>
          </a:p>
          <a:p>
            <a:endParaRPr lang="es-MX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77BA58-5462-4274-B4CA-C8C2A613A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7" y="134226"/>
            <a:ext cx="4755292" cy="1725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358AA1-71F2-4055-8563-9B93819A4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" y="2681927"/>
            <a:ext cx="3402856" cy="100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8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4" y="258690"/>
            <a:ext cx="7499311" cy="634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2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A92570-70F1-430F-BCD9-1CAB039F7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4018" y="1677798"/>
            <a:ext cx="1304056" cy="620785"/>
          </a:xfrm>
        </p:spPr>
        <p:txBody>
          <a:bodyPr>
            <a:normAutofit fontScale="62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CLEAR BLUE (AL) (MTC) (PD) (GL)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ibbon: Curved and Tilted Up 3">
            <a:hlinkClick r:id="rId2" action="ppaction://hlinksldjump"/>
            <a:extLst>
              <a:ext uri="{FF2B5EF4-FFF2-40B4-BE49-F238E27FC236}">
                <a16:creationId xmlns:a16="http://schemas.microsoft.com/office/drawing/2014/main" id="{32651576-3579-4A38-89D5-A51698BB4CA1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0888" y="2298583"/>
            <a:ext cx="5466625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*Driver 28-65 </a:t>
            </a:r>
            <a:r>
              <a:rPr lang="en-US" sz="1400" dirty="0" err="1"/>
              <a:t>años</a:t>
            </a:r>
            <a:r>
              <a:rPr lang="es-MX" sz="1400" dirty="0"/>
              <a:t> +2 YOE</a:t>
            </a:r>
          </a:p>
          <a:p>
            <a:r>
              <a:rPr lang="es-MX" sz="1400" dirty="0"/>
              <a:t>*</a:t>
            </a:r>
            <a:r>
              <a:rPr lang="en-US" sz="1400" dirty="0"/>
              <a:t>Owner </a:t>
            </a:r>
            <a:r>
              <a:rPr lang="en-US" sz="1400" dirty="0" err="1"/>
              <a:t>tiene</a:t>
            </a:r>
            <a:r>
              <a:rPr lang="en-US" sz="1400" dirty="0"/>
              <a:t> que </a:t>
            </a:r>
            <a:r>
              <a:rPr lang="en-US" sz="1400" dirty="0" err="1"/>
              <a:t>tener</a:t>
            </a:r>
            <a:r>
              <a:rPr lang="en-US" sz="1400" dirty="0"/>
              <a:t> </a:t>
            </a:r>
            <a:r>
              <a:rPr lang="en-US" sz="1400" dirty="0" err="1"/>
              <a:t>lic</a:t>
            </a:r>
            <a:r>
              <a:rPr lang="en-US" sz="1400" dirty="0"/>
              <a:t> </a:t>
            </a:r>
            <a:r>
              <a:rPr lang="en-US" sz="1400" dirty="0" err="1"/>
              <a:t>texas</a:t>
            </a:r>
            <a:r>
              <a:rPr lang="en-US" sz="1400" dirty="0"/>
              <a:t> </a:t>
            </a:r>
          </a:p>
          <a:p>
            <a:r>
              <a:rPr lang="en-US" sz="1400" dirty="0"/>
              <a:t>*</a:t>
            </a:r>
            <a:r>
              <a:rPr lang="en-US" sz="1400" dirty="0" err="1"/>
              <a:t>si</a:t>
            </a:r>
            <a:r>
              <a:rPr lang="en-US" sz="1400" dirty="0"/>
              <a:t> no </a:t>
            </a:r>
            <a:r>
              <a:rPr lang="en-US" sz="1400" dirty="0" err="1"/>
              <a:t>tiene</a:t>
            </a:r>
            <a:r>
              <a:rPr lang="en-US" sz="1400" dirty="0"/>
              <a:t> </a:t>
            </a:r>
            <a:r>
              <a:rPr lang="en-US" sz="1400" dirty="0" err="1"/>
              <a:t>clase</a:t>
            </a:r>
            <a:r>
              <a:rPr lang="en-US" sz="1400" dirty="0"/>
              <a:t> A </a:t>
            </a:r>
            <a:r>
              <a:rPr lang="en-US" sz="1400" dirty="0" err="1"/>
              <a:t>debera</a:t>
            </a:r>
            <a:r>
              <a:rPr lang="en-US" sz="1400" dirty="0"/>
              <a:t> ser excluded</a:t>
            </a:r>
          </a:p>
          <a:p>
            <a:r>
              <a:rPr lang="en-US" sz="1400" dirty="0"/>
              <a:t>*</a:t>
            </a:r>
            <a:r>
              <a:rPr lang="en-US" sz="1400" dirty="0" err="1"/>
              <a:t>Hacen</a:t>
            </a:r>
            <a:r>
              <a:rPr lang="en-US" sz="1400" dirty="0"/>
              <a:t> pickups </a:t>
            </a:r>
          </a:p>
          <a:p>
            <a:r>
              <a:rPr lang="en-US" sz="1400" dirty="0"/>
              <a:t>*</a:t>
            </a:r>
            <a:r>
              <a:rPr lang="en-US" sz="1400" dirty="0" err="1"/>
              <a:t>Comodidades</a:t>
            </a:r>
            <a:r>
              <a:rPr lang="en-US" sz="1400" dirty="0"/>
              <a:t> : </a:t>
            </a:r>
            <a:r>
              <a:rPr lang="en-US" sz="1400" dirty="0" err="1"/>
              <a:t>algodon</a:t>
            </a:r>
            <a:r>
              <a:rPr lang="en-US" sz="1400" dirty="0"/>
              <a:t> y steel 2%   </a:t>
            </a:r>
          </a:p>
          <a:p>
            <a:r>
              <a:rPr lang="en-US" sz="1400" dirty="0"/>
              <a:t>*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dryvan</a:t>
            </a:r>
            <a:r>
              <a:rPr lang="en-US" sz="1400" dirty="0"/>
              <a:t> – no </a:t>
            </a:r>
            <a:r>
              <a:rPr lang="en-US" sz="1400" dirty="0" err="1"/>
              <a:t>hacen</a:t>
            </a:r>
            <a:r>
              <a:rPr lang="en-US" sz="1400" dirty="0"/>
              <a:t> </a:t>
            </a:r>
            <a:r>
              <a:rPr lang="en-US" sz="1400" dirty="0" err="1"/>
              <a:t>electronic,No</a:t>
            </a:r>
            <a:r>
              <a:rPr lang="en-US" sz="1400" dirty="0"/>
              <a:t> </a:t>
            </a:r>
            <a:r>
              <a:rPr lang="en-US" sz="1400" dirty="0" err="1"/>
              <a:t>hacen</a:t>
            </a:r>
            <a:r>
              <a:rPr lang="en-US" sz="1400" dirty="0"/>
              <a:t> </a:t>
            </a:r>
            <a:r>
              <a:rPr lang="en-US" sz="1400" dirty="0" err="1"/>
              <a:t>carros</a:t>
            </a:r>
            <a:r>
              <a:rPr lang="en-US" sz="1400" dirty="0"/>
              <a:t> </a:t>
            </a:r>
          </a:p>
          <a:p>
            <a:r>
              <a:rPr lang="en-US" sz="1400" dirty="0"/>
              <a:t>*Radio </a:t>
            </a:r>
            <a:r>
              <a:rPr lang="en-US" sz="1400" dirty="0" err="1"/>
              <a:t>operacion</a:t>
            </a:r>
            <a:r>
              <a:rPr lang="en-US" sz="1400" dirty="0"/>
              <a:t> : intra </a:t>
            </a:r>
          </a:p>
          <a:p>
            <a:r>
              <a:rPr lang="en-US" sz="1400" dirty="0"/>
              <a:t>*Dumper : </a:t>
            </a:r>
            <a:r>
              <a:rPr lang="en-US" sz="1400" dirty="0" err="1"/>
              <a:t>foto</a:t>
            </a:r>
            <a:r>
              <a:rPr lang="en-US" sz="1400" dirty="0"/>
              <a:t> </a:t>
            </a:r>
          </a:p>
          <a:p>
            <a:r>
              <a:rPr lang="en-US" sz="1400" dirty="0"/>
              <a:t>*Dan </a:t>
            </a:r>
            <a:r>
              <a:rPr lang="en-US" sz="1400" dirty="0" err="1"/>
              <a:t>cotizaciones</a:t>
            </a:r>
            <a:r>
              <a:rPr lang="en-US" sz="1400" dirty="0"/>
              <a:t> </a:t>
            </a:r>
            <a:r>
              <a:rPr lang="en-US" sz="1400" dirty="0" err="1"/>
              <a:t>tomando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cuenta</a:t>
            </a:r>
            <a:r>
              <a:rPr lang="en-US" sz="1400" dirty="0"/>
              <a:t>: Background- cab </a:t>
            </a:r>
          </a:p>
          <a:p>
            <a:r>
              <a:rPr lang="en-US" sz="1400" dirty="0"/>
              <a:t>*HAZMED ALLOW BUT HAVE TO BE ACTIVE FOR AT LEAST 3YEARS</a:t>
            </a:r>
          </a:p>
          <a:p>
            <a:r>
              <a:rPr lang="en-US" sz="1400" dirty="0"/>
              <a:t>*INTER IS OK IF COMING BACK SAME DAY LUSIANA,OK,NEW MEXICO</a:t>
            </a:r>
          </a:p>
          <a:p>
            <a:r>
              <a:rPr lang="en-US" sz="1400" dirty="0"/>
              <a:t>*a </a:t>
            </a:r>
            <a:r>
              <a:rPr lang="en-US" sz="1400" dirty="0" err="1"/>
              <a:t>partir</a:t>
            </a:r>
            <a:r>
              <a:rPr lang="en-US" sz="1400" dirty="0"/>
              <a:t> del 04/13/2023 las dash cam </a:t>
            </a:r>
            <a:r>
              <a:rPr lang="en-US" sz="1400" dirty="0" err="1"/>
              <a:t>generan</a:t>
            </a:r>
            <a:r>
              <a:rPr lang="en-US" sz="1400" dirty="0"/>
              <a:t> </a:t>
            </a:r>
            <a:r>
              <a:rPr lang="en-US" sz="1400" dirty="0" err="1"/>
              <a:t>costo</a:t>
            </a:r>
            <a:endParaRPr lang="en-US" sz="1400" dirty="0"/>
          </a:p>
          <a:p>
            <a:r>
              <a:rPr lang="en-US" sz="1400"/>
              <a:t>*HACE FRACC SAND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F2AB5-8D78-4976-B406-C9CA54BB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49"/>
            <a:ext cx="3273836" cy="1359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8F0778-F2CA-4AEE-84DA-12CEDF492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840" y="611841"/>
            <a:ext cx="5242652" cy="33734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20A632-08C9-4CFE-87FF-96845F42204A}"/>
              </a:ext>
            </a:extLst>
          </p:cNvPr>
          <p:cNvSpPr txBox="1"/>
          <p:nvPr/>
        </p:nvSpPr>
        <p:spPr>
          <a:xfrm>
            <a:off x="6238117" y="272257"/>
            <a:ext cx="4483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(</a:t>
            </a:r>
            <a:r>
              <a:rPr lang="es-MX" sz="1000" dirty="0" err="1"/>
              <a:t>actualizacion</a:t>
            </a:r>
            <a:r>
              <a:rPr lang="es-MX" sz="1000" dirty="0"/>
              <a:t>) estados con una X son estados donde </a:t>
            </a:r>
            <a:r>
              <a:rPr lang="es-MX" sz="1000" dirty="0" err="1"/>
              <a:t>qeo</a:t>
            </a:r>
            <a:r>
              <a:rPr lang="es-MX" sz="1000" dirty="0"/>
              <a:t> puede trabajar al 100%</a:t>
            </a:r>
          </a:p>
        </p:txBody>
      </p:sp>
    </p:spTree>
    <p:extLst>
      <p:ext uri="{BB962C8B-B14F-4D97-AF65-F5344CB8AC3E}">
        <p14:creationId xmlns:p14="http://schemas.microsoft.com/office/powerpoint/2010/main" val="17260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3A59-77E7-4456-9105-CBFCC4D0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BASS</a:t>
            </a:r>
            <a:br>
              <a:rPr lang="es-E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C4D300E-F03F-4E92-A5E8-0C622038A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326" y="2090263"/>
            <a:ext cx="4185623" cy="3304117"/>
          </a:xfrm>
        </p:spPr>
        <p:txBody>
          <a:bodyPr/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 –MTC -PD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ACEELERANT–MTC -PD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LLOYDS –MTC -PD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Burlington / GL </a:t>
            </a:r>
          </a:p>
        </p:txBody>
      </p:sp>
      <p:sp>
        <p:nvSpPr>
          <p:cNvPr id="4" name="Ribbon: Curved and Tilted Up 3">
            <a:hlinkClick r:id="rId2" action="ppaction://hlinksldjump"/>
            <a:extLst>
              <a:ext uri="{FF2B5EF4-FFF2-40B4-BE49-F238E27FC236}">
                <a16:creationId xmlns:a16="http://schemas.microsoft.com/office/drawing/2014/main" id="{1FE1F569-EC7B-4F22-895E-48C7C5EFB44D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898178" y="2514409"/>
            <a:ext cx="47099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Aceptan</a:t>
            </a:r>
            <a:r>
              <a:rPr lang="en-US" dirty="0"/>
              <a:t> </a:t>
            </a:r>
            <a:r>
              <a:rPr lang="en-US" dirty="0" err="1"/>
              <a:t>carros</a:t>
            </a:r>
            <a:r>
              <a:rPr lang="en-US" dirty="0"/>
              <a:t>, </a:t>
            </a:r>
          </a:p>
          <a:p>
            <a:r>
              <a:rPr lang="en-US" dirty="0" err="1"/>
              <a:t>Mtc</a:t>
            </a:r>
            <a:r>
              <a:rPr lang="en-US" dirty="0"/>
              <a:t> para 250,000 limit </a:t>
            </a:r>
          </a:p>
          <a:p>
            <a:r>
              <a:rPr lang="en-US" dirty="0" err="1"/>
              <a:t>Aceptan</a:t>
            </a:r>
            <a:r>
              <a:rPr lang="en-US" dirty="0"/>
              <a:t> </a:t>
            </a:r>
            <a:r>
              <a:rPr lang="en-US" dirty="0" err="1"/>
              <a:t>trl</a:t>
            </a:r>
            <a:r>
              <a:rPr lang="en-US" dirty="0"/>
              <a:t> para refer para mas de 10 </a:t>
            </a:r>
            <a:r>
              <a:rPr lang="en-US" dirty="0" err="1"/>
              <a:t>años</a:t>
            </a:r>
            <a:r>
              <a:rPr lang="en-US" dirty="0"/>
              <a:t> </a:t>
            </a:r>
          </a:p>
          <a:p>
            <a:r>
              <a:rPr lang="en-US" dirty="0" err="1"/>
              <a:t>Dependiendo</a:t>
            </a:r>
            <a:r>
              <a:rPr lang="en-US" dirty="0"/>
              <a:t> del </a:t>
            </a:r>
            <a:r>
              <a:rPr lang="en-US" dirty="0" err="1"/>
              <a:t>caso</a:t>
            </a:r>
            <a:r>
              <a:rPr lang="en-US" dirty="0"/>
              <a:t> </a:t>
            </a:r>
          </a:p>
          <a:p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0668A-B0EB-4619-B5F9-0901CFE2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90" y="269874"/>
            <a:ext cx="1886870" cy="166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4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4009-5BC3-4BA0-AA6A-30C12F7A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CRC GROUP</a:t>
            </a:r>
            <a:br>
              <a:rPr lang="es-E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A5B48-78FB-4394-9D6B-18C134D7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6" y="3783435"/>
            <a:ext cx="2637906" cy="2257927"/>
          </a:xfrm>
        </p:spPr>
        <p:txBody>
          <a:bodyPr/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 – –MTC -PD</a:t>
            </a:r>
          </a:p>
          <a:p>
            <a:pPr marL="0" indent="0"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BC6E1196-D954-4D6B-B3A8-2612FCC55052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703953" y="2228671"/>
            <a:ext cx="53383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Generalmente</a:t>
            </a:r>
            <a:r>
              <a:rPr lang="en-US" dirty="0"/>
              <a:t> es para </a:t>
            </a:r>
            <a:r>
              <a:rPr lang="en-US" dirty="0" err="1"/>
              <a:t>flotas</a:t>
            </a:r>
            <a:r>
              <a:rPr lang="en-US" dirty="0"/>
              <a:t> de +5 units </a:t>
            </a:r>
          </a:p>
          <a:p>
            <a:r>
              <a:rPr lang="en-US" dirty="0"/>
              <a:t>*</a:t>
            </a:r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hacen</a:t>
            </a:r>
            <a:r>
              <a:rPr lang="en-US" dirty="0"/>
              <a:t> </a:t>
            </a:r>
            <a:r>
              <a:rPr lang="en-US" dirty="0" err="1"/>
              <a:t>excepciones</a:t>
            </a:r>
            <a:r>
              <a:rPr lang="en-US" dirty="0"/>
              <a:t>  para 1 </a:t>
            </a:r>
            <a:r>
              <a:rPr lang="en-US" dirty="0" err="1"/>
              <a:t>unidad</a:t>
            </a:r>
            <a:r>
              <a:rPr lang="en-US" dirty="0"/>
              <a:t> </a:t>
            </a:r>
          </a:p>
          <a:p>
            <a:r>
              <a:rPr lang="en-US" dirty="0"/>
              <a:t>*No </a:t>
            </a:r>
            <a:r>
              <a:rPr lang="en-US" dirty="0" err="1"/>
              <a:t>aceptan</a:t>
            </a:r>
            <a:r>
              <a:rPr lang="en-US" dirty="0"/>
              <a:t> new ventures para GA</a:t>
            </a:r>
          </a:p>
          <a:p>
            <a:r>
              <a:rPr lang="es-MX" dirty="0"/>
              <a:t>*</a:t>
            </a:r>
            <a:r>
              <a:rPr lang="en-US" dirty="0"/>
              <a:t>$1M CSL Auto Liability Coverage</a:t>
            </a:r>
          </a:p>
          <a:p>
            <a:r>
              <a:rPr lang="en-US" dirty="0"/>
              <a:t>*Hired and Non-Owned AL and APD</a:t>
            </a:r>
          </a:p>
          <a:p>
            <a:r>
              <a:rPr lang="en-US" dirty="0"/>
              <a:t>*Trailer Interchange</a:t>
            </a:r>
            <a:endParaRPr lang="es-MX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C0AE1-E7F0-4F29-9012-9F43F339A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72" y="1270000"/>
            <a:ext cx="3389670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6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68AA8-58CC-4D06-B509-2F8D718F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127" y="1703302"/>
            <a:ext cx="1991954" cy="1725698"/>
          </a:xfrm>
        </p:spPr>
        <p:txBody>
          <a:bodyPr>
            <a:normAutofit fontScale="400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FORTEGRA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GREAT AMERICAN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GREAT LAKES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LLOYDS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PALOMAR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PLATINUM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ACELERANT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TRANSVERSE </a:t>
            </a: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56BF9330-6379-4C20-B494-478F0CF7DE77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2235514" y="2566151"/>
            <a:ext cx="725480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*ELLOS USAN SU PROPIO FINANCE </a:t>
            </a:r>
          </a:p>
          <a:p>
            <a:r>
              <a:rPr lang="en-US" dirty="0"/>
              <a:t>*ELLOS NO HACEN MONOLINE</a:t>
            </a:r>
          </a:p>
          <a:p>
            <a:r>
              <a:rPr lang="en-US" dirty="0"/>
              <a:t>*NO SE PUEDE UNIR NADA  A SUS FINANCIAMIENTOS</a:t>
            </a:r>
          </a:p>
          <a:p>
            <a:r>
              <a:rPr lang="es-MX" dirty="0"/>
              <a:t>*NO GARBAGE </a:t>
            </a:r>
          </a:p>
          <a:p>
            <a:r>
              <a:rPr lang="es-MX" dirty="0"/>
              <a:t>*</a:t>
            </a:r>
            <a:r>
              <a:rPr lang="en-US" dirty="0"/>
              <a:t>ONLY ACCEPT STRAY TRUCK/DUMPER* WITH A PHOTO*/BELLY DUMPS</a:t>
            </a:r>
            <a:endParaRPr lang="es-MX" dirty="0"/>
          </a:p>
          <a:p>
            <a:r>
              <a:rPr lang="es-MX" dirty="0"/>
              <a:t>*ACEPTA DRIVER MENOS DE DOS </a:t>
            </a:r>
            <a:r>
              <a:rPr lang="es-MX" dirty="0" err="1"/>
              <a:t>AñOS</a:t>
            </a:r>
            <a:r>
              <a:rPr lang="es-MX" dirty="0"/>
              <a:t> con FACTURAS</a:t>
            </a:r>
          </a:p>
          <a:p>
            <a:r>
              <a:rPr lang="es-MX" dirty="0"/>
              <a:t>*PD OBLIGADO $20K SI SOLO AL </a:t>
            </a:r>
          </a:p>
          <a:p>
            <a:r>
              <a:rPr lang="es-MX" dirty="0"/>
              <a:t>*SE PAGA ANTES DE ACTIVAR POLIZA </a:t>
            </a:r>
          </a:p>
          <a:p>
            <a:r>
              <a:rPr lang="es-MX" dirty="0"/>
              <a:t>*REINSTATEMENTS $100 /EACH POLICY</a:t>
            </a:r>
          </a:p>
          <a:p>
            <a:r>
              <a:rPr lang="es-MX" dirty="0"/>
              <a:t>*NO ACEPTA SIDE DUMPS </a:t>
            </a:r>
          </a:p>
          <a:p>
            <a:r>
              <a:rPr lang="es-MX" dirty="0"/>
              <a:t>*Works </a:t>
            </a:r>
            <a:r>
              <a:rPr lang="es-MX" dirty="0" err="1"/>
              <a:t>on</a:t>
            </a:r>
            <a:r>
              <a:rPr lang="es-MX" dirty="0"/>
              <a:t> FL con transverse</a:t>
            </a:r>
          </a:p>
          <a:p>
            <a:r>
              <a:rPr lang="es-MX" dirty="0"/>
              <a:t>*no hace </a:t>
            </a:r>
            <a:r>
              <a:rPr lang="es-MX" dirty="0" err="1"/>
              <a:t>mixers</a:t>
            </a:r>
            <a:endParaRPr lang="es-MX" dirty="0"/>
          </a:p>
          <a:p>
            <a:endParaRPr lang="es-MX" dirty="0"/>
          </a:p>
          <a:p>
            <a:r>
              <a:rPr lang="es-MX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0975C2-61C2-40D2-8364-FBB6AD399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7" y="155183"/>
            <a:ext cx="2254119" cy="1322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243FD2-FA2C-4978-8856-B58BB5955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741" y="210708"/>
            <a:ext cx="4218048" cy="2534769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5607270A-6B9F-49C2-B264-8368220AD5EA}"/>
              </a:ext>
            </a:extLst>
          </p:cNvPr>
          <p:cNvSpPr/>
          <p:nvPr/>
        </p:nvSpPr>
        <p:spPr>
          <a:xfrm>
            <a:off x="8007547" y="155183"/>
            <a:ext cx="3083438" cy="2697028"/>
          </a:xfrm>
          <a:prstGeom prst="noSmoking">
            <a:avLst>
              <a:gd name="adj" fmla="val 5047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927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68AA8-58CC-4D06-B509-2F8D718F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631" y="1429065"/>
            <a:ext cx="2419792" cy="492515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TRISURA / MTC / PD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EVERSPAN INDEMNITY  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56BF9330-6379-4C20-B494-478F0CF7DE77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2595858" y="2013475"/>
            <a:ext cx="736291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*ELLOS USAN SU PROPIO FINANCIAMIENTO </a:t>
            </a:r>
          </a:p>
          <a:p>
            <a:r>
              <a:rPr lang="en-US" dirty="0"/>
              <a:t>*SE PUEDE HACER MONOLINE </a:t>
            </a:r>
          </a:p>
          <a:p>
            <a:r>
              <a:rPr lang="es-MX" dirty="0"/>
              <a:t>*AL </a:t>
            </a:r>
            <a:r>
              <a:rPr lang="es-MX" dirty="0" err="1"/>
              <a:t>limit</a:t>
            </a:r>
            <a:r>
              <a:rPr lang="es-MX" dirty="0"/>
              <a:t>: $750,000 - $1 </a:t>
            </a:r>
            <a:r>
              <a:rPr lang="es-MX" dirty="0" err="1"/>
              <a:t>million</a:t>
            </a:r>
            <a:r>
              <a:rPr lang="es-MX" dirty="0"/>
              <a:t> CSL</a:t>
            </a:r>
          </a:p>
          <a:p>
            <a:r>
              <a:rPr lang="es-MX" dirty="0"/>
              <a:t>*</a:t>
            </a:r>
            <a:r>
              <a:rPr lang="en-US" dirty="0"/>
              <a:t>Drivers age 23-70 (medical cert required for 65+)</a:t>
            </a:r>
            <a:endParaRPr lang="es-MX" dirty="0"/>
          </a:p>
          <a:p>
            <a:r>
              <a:rPr lang="es-MX" dirty="0"/>
              <a:t>*Experiencia mínima de conducción de 2 años con un vehículo similar</a:t>
            </a:r>
          </a:p>
          <a:p>
            <a:r>
              <a:rPr lang="es-MX" dirty="0"/>
              <a:t>*NO VEHICLES MAS DE 20 YEARS </a:t>
            </a:r>
          </a:p>
          <a:p>
            <a:r>
              <a:rPr lang="es-MX" dirty="0"/>
              <a:t>*NO COTTON</a:t>
            </a:r>
          </a:p>
          <a:p>
            <a:r>
              <a:rPr lang="es-MX" dirty="0"/>
              <a:t>*PFA JUST WITH THEM </a:t>
            </a:r>
          </a:p>
          <a:p>
            <a:r>
              <a:rPr lang="es-MX" dirty="0"/>
              <a:t>*DUAL CAMERAS ON THE </a:t>
            </a:r>
            <a:r>
              <a:rPr lang="es-MX" b="1" u="sng" dirty="0"/>
              <a:t>AL</a:t>
            </a:r>
            <a:r>
              <a:rPr lang="es-MX" dirty="0"/>
              <a:t> OBLIGADO </a:t>
            </a:r>
          </a:p>
          <a:p>
            <a:r>
              <a:rPr lang="es-MX" dirty="0"/>
              <a:t>*no acepta </a:t>
            </a:r>
            <a:r>
              <a:rPr lang="es-MX"/>
              <a:t>driver mexicano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4179F-66DE-4790-949E-87A25EDA2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41" y="448085"/>
            <a:ext cx="3403996" cy="8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1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E5434-B214-4A02-818A-9BC5D924D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741" y="1930400"/>
            <a:ext cx="2067455" cy="836465"/>
          </a:xfrm>
        </p:spPr>
        <p:txBody>
          <a:bodyPr>
            <a:normAutofit fontScale="550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LAKES –MTC -PD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GREAT AMERICA  –MTC –PD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Canal-Wilshire-AL</a:t>
            </a: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4522C6B4-8CFC-4CB1-A730-4461B7FC8733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5020887" y="1930400"/>
            <a:ext cx="47438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*HACEN MONOLINE </a:t>
            </a:r>
          </a:p>
          <a:p>
            <a:r>
              <a:rPr lang="en-US" dirty="0"/>
              <a:t>*CUALQUIER FINANCIERA</a:t>
            </a:r>
          </a:p>
          <a:p>
            <a:r>
              <a:rPr lang="en-US" dirty="0"/>
              <a:t>*Solo POR AJM</a:t>
            </a:r>
          </a:p>
          <a:p>
            <a:r>
              <a:rPr lang="en-US" dirty="0"/>
              <a:t>*Must have a permanently attached box to the body of the truck.</a:t>
            </a:r>
          </a:p>
          <a:p>
            <a:r>
              <a:rPr lang="en-US" dirty="0"/>
              <a:t>*no contractors or hazmat.</a:t>
            </a:r>
          </a:p>
          <a:p>
            <a:r>
              <a:rPr lang="en-US" dirty="0"/>
              <a:t>*New ventures(Minimum 2 years CDL experience)</a:t>
            </a:r>
          </a:p>
          <a:p>
            <a:r>
              <a:rPr lang="en-US" dirty="0"/>
              <a:t>*Mexican driver’s license – B or E is acceptable (cargo &amp; physical damage only)</a:t>
            </a:r>
          </a:p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99EE93-39A9-43F5-ADE7-75CA97046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71" y="286239"/>
            <a:ext cx="2520268" cy="151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5EA0-1B40-476C-B6F5-56002F00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007143" cy="808139"/>
          </a:xfrm>
        </p:spPr>
        <p:txBody>
          <a:bodyPr/>
          <a:lstStyle/>
          <a:p>
            <a:r>
              <a:rPr lang="es-MX" dirty="0" err="1"/>
              <a:t>brooklyn</a:t>
            </a:r>
            <a:endParaRPr lang="es-MX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5371-DC0B-488B-B7E3-878428B31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3" y="1487285"/>
            <a:ext cx="7879437" cy="4502454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*Auto </a:t>
            </a:r>
            <a:r>
              <a:rPr lang="es-MX" dirty="0" err="1"/>
              <a:t>Liability</a:t>
            </a:r>
            <a:r>
              <a:rPr lang="es-MX" dirty="0"/>
              <a:t> </a:t>
            </a:r>
            <a:r>
              <a:rPr lang="es-MX" dirty="0" err="1"/>
              <a:t>only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*Edad mínima del conductor 25 años + 2 años de experiencia CDL. Edad máxima del conductor 70 (cualquier conductor de 65 años requerimos un examen médico antes de la vinculación)</a:t>
            </a:r>
          </a:p>
          <a:p>
            <a:pPr marL="0" indent="0">
              <a:buNone/>
            </a:pPr>
            <a:r>
              <a:rPr lang="es-MX" dirty="0"/>
              <a:t>*</a:t>
            </a:r>
            <a:r>
              <a:rPr lang="en-US" dirty="0"/>
              <a:t>For the refrigerated reefer, I would say our age limit defaults to the same 25 years old or 1997-year models</a:t>
            </a:r>
          </a:p>
          <a:p>
            <a:pPr marL="0" indent="0">
              <a:buNone/>
            </a:pPr>
            <a:r>
              <a:rPr lang="en-US" dirty="0"/>
              <a:t>*Driver Needs to Have Experience Hauling Similar Loads (especially for an auto haulers and flatbed Commodities)</a:t>
            </a:r>
          </a:p>
          <a:p>
            <a:pPr marL="0" indent="0" algn="l">
              <a:buNone/>
            </a:pPr>
            <a:r>
              <a:rPr lang="en-US" dirty="0"/>
              <a:t>*</a:t>
            </a:r>
            <a:r>
              <a:rPr lang="en-US" sz="1800" b="0" i="0" u="none" strike="noStrike" baseline="0" dirty="0">
                <a:latin typeface="ArialMT"/>
              </a:rPr>
              <a:t>The following limits are available:</a:t>
            </a:r>
          </a:p>
          <a:p>
            <a:pPr algn="l"/>
            <a:r>
              <a:rPr lang="es-MX" sz="1800" b="0" i="0" u="none" strike="noStrike" baseline="0" dirty="0">
                <a:latin typeface="ArialMT"/>
              </a:rPr>
              <a:t>$ 750,000 CSL</a:t>
            </a:r>
          </a:p>
          <a:p>
            <a:pPr algn="l"/>
            <a:r>
              <a:rPr lang="es-MX" sz="1800" b="0" i="0" u="none" strike="noStrike" baseline="0" dirty="0">
                <a:latin typeface="ArialMT"/>
              </a:rPr>
              <a:t>$1,000,000 CSL</a:t>
            </a: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128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F1517-A537-422B-B444-069D16891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64603" y="2175183"/>
            <a:ext cx="4185623" cy="3304117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no se aceptan buses por debajo del 2000</a:t>
            </a:r>
          </a:p>
          <a:p>
            <a:r>
              <a:rPr lang="en-US" dirty="0"/>
              <a:t>Trailers can be up to 25 years old•</a:t>
            </a:r>
            <a:endParaRPr lang="es-MX" dirty="0"/>
          </a:p>
          <a:p>
            <a:r>
              <a:rPr lang="en-US" dirty="0"/>
              <a:t>Acceptable ages 23-70 years old</a:t>
            </a:r>
            <a:endParaRPr lang="es-MX" dirty="0"/>
          </a:p>
          <a:p>
            <a:r>
              <a:rPr lang="es-MX" dirty="0" err="1"/>
              <a:t>Minimum</a:t>
            </a:r>
            <a:r>
              <a:rPr lang="es-MX" dirty="0"/>
              <a:t> </a:t>
            </a:r>
            <a:r>
              <a:rPr lang="es-MX" dirty="0" err="1"/>
              <a:t>driving</a:t>
            </a:r>
            <a:r>
              <a:rPr lang="es-MX" dirty="0"/>
              <a:t> </a:t>
            </a:r>
            <a:r>
              <a:rPr lang="es-MX" dirty="0" err="1"/>
              <a:t>age</a:t>
            </a:r>
            <a:r>
              <a:rPr lang="es-MX" dirty="0"/>
              <a:t> 23</a:t>
            </a:r>
          </a:p>
          <a:p>
            <a:r>
              <a:rPr lang="en-US" dirty="0"/>
              <a:t>Drivers between 65– 70 will be considered</a:t>
            </a:r>
            <a:endParaRPr lang="es-MX" dirty="0"/>
          </a:p>
          <a:p>
            <a:r>
              <a:rPr lang="en-US" dirty="0"/>
              <a:t>AL$300,000 and maximum of $1,000,000</a:t>
            </a:r>
            <a:endParaRPr lang="es-MX" dirty="0"/>
          </a:p>
          <a:p>
            <a:r>
              <a:rPr lang="es-MX" dirty="0"/>
              <a:t>acepta hasta 1 año de experiencia CDL con un recargo del 30 %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AE5781-5082-446F-AA53-FD28D0E3E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23" y="289288"/>
            <a:ext cx="2579757" cy="13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79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ACDA4-4A24-4837-94CB-FC909E8D7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661021"/>
            <a:ext cx="4185623" cy="4380342"/>
          </a:xfrm>
        </p:spPr>
        <p:txBody>
          <a:bodyPr/>
          <a:lstStyle/>
          <a:p>
            <a:r>
              <a:rPr lang="es-MX" dirty="0"/>
              <a:t>Los conductores deben tener un mínimo de 2 años completos antes de Clase A CDL</a:t>
            </a:r>
          </a:p>
          <a:p>
            <a:r>
              <a:rPr lang="es-MX" dirty="0"/>
              <a:t>Edad mínima del conductor 23-65</a:t>
            </a:r>
          </a:p>
          <a:p>
            <a:r>
              <a:rPr lang="es-MX" dirty="0"/>
              <a:t>Los vehículos de 16 a 20 años deben tener una inspección mecánica certificada o una inspección DOT para ser presentados</a:t>
            </a:r>
          </a:p>
          <a:p>
            <a:r>
              <a:rPr lang="es-MX" dirty="0"/>
              <a:t>Tarifa de restablecimiento de $ 250 en todos los restablecimientos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624E3-51E1-4315-9AD5-BAC18D98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02" y="0"/>
            <a:ext cx="4743099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7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3D33F-9F35-4114-8DBF-C8B8F6F3F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/>
              <a:t>Es un RRG</a:t>
            </a:r>
          </a:p>
          <a:p>
            <a:r>
              <a:rPr lang="es-MX" dirty="0"/>
              <a:t>HACE TOWING</a:t>
            </a:r>
          </a:p>
          <a:p>
            <a:r>
              <a:rPr lang="es-MX" dirty="0"/>
              <a:t>No hace </a:t>
            </a:r>
            <a:r>
              <a:rPr lang="es-MX" dirty="0" err="1"/>
              <a:t>sand</a:t>
            </a:r>
            <a:r>
              <a:rPr lang="es-MX" dirty="0"/>
              <a:t> and </a:t>
            </a:r>
            <a:r>
              <a:rPr lang="es-MX" dirty="0" err="1"/>
              <a:t>gravel</a:t>
            </a:r>
            <a:endParaRPr lang="es-MX" dirty="0"/>
          </a:p>
          <a:p>
            <a:r>
              <a:rPr lang="es-MX" dirty="0"/>
              <a:t>HACE TOWING</a:t>
            </a:r>
          </a:p>
          <a:p>
            <a:r>
              <a:rPr lang="en-US" dirty="0"/>
              <a:t>Not new venture, not hazmat</a:t>
            </a:r>
            <a:endParaRPr lang="es-MX" dirty="0"/>
          </a:p>
          <a:p>
            <a:r>
              <a:rPr lang="es-MX" dirty="0"/>
              <a:t>no </a:t>
            </a:r>
            <a:r>
              <a:rPr lang="es-MX" dirty="0" err="1"/>
              <a:t>dry</a:t>
            </a:r>
            <a:r>
              <a:rPr lang="es-MX" dirty="0"/>
              <a:t> van</a:t>
            </a:r>
          </a:p>
          <a:p>
            <a:r>
              <a:rPr lang="es-MX" dirty="0"/>
              <a:t>Acepta unidades </a:t>
            </a:r>
            <a:r>
              <a:rPr lang="es-MX"/>
              <a:t>con 15 </a:t>
            </a:r>
            <a:r>
              <a:rPr lang="es-MX" dirty="0"/>
              <a:t>años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9281E-03CC-4DD8-8DFC-A44AB4F2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111" y="0"/>
            <a:ext cx="3492616" cy="14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31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77C0-D128-41A6-8AD3-B210AD7D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ONE 80 </a:t>
            </a:r>
            <a:r>
              <a:rPr lang="es-ES" dirty="0" err="1">
                <a:solidFill>
                  <a:schemeClr val="bg2">
                    <a:lumMod val="50000"/>
                  </a:schemeClr>
                </a:solidFill>
              </a:rPr>
              <a:t>Categoria</a:t>
            </a: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 B</a:t>
            </a:r>
            <a:br>
              <a:rPr lang="es-E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5800D-59BD-4473-9F01-252177ACB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536916"/>
            <a:ext cx="1320834" cy="649331"/>
          </a:xfrm>
        </p:spPr>
        <p:txBody>
          <a:bodyPr>
            <a:normAutofit fontScale="77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SOUTH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BULLDOG </a:t>
            </a: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C87267DC-2567-4C83-BCDE-00176DFF7E1F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012575" y="2186247"/>
            <a:ext cx="487505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*ELLOS TIENEN SU PROPIA FINANCIERA </a:t>
            </a:r>
          </a:p>
          <a:p>
            <a:r>
              <a:rPr lang="en-US" dirty="0"/>
              <a:t>*SE LES PAGA  AL MOMENTO DE BINDER </a:t>
            </a:r>
          </a:p>
          <a:p>
            <a:r>
              <a:rPr lang="en-US" dirty="0"/>
              <a:t>*ACEPTAN COMPAÑIA CON PERDIDAS</a:t>
            </a:r>
          </a:p>
          <a:p>
            <a:r>
              <a:rPr lang="en-US" dirty="0"/>
              <a:t>*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hot shot</a:t>
            </a:r>
          </a:p>
          <a:p>
            <a:r>
              <a:rPr lang="en-US" dirty="0"/>
              <a:t>*no sand and gravel</a:t>
            </a:r>
          </a:p>
          <a:p>
            <a:r>
              <a:rPr lang="en-US" dirty="0"/>
              <a:t>*</a:t>
            </a:r>
            <a:r>
              <a:rPr lang="es-MX" dirty="0"/>
              <a:t>solo se aceptan unidades de 20años o menos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0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84A15-13F3-45DD-822D-E34B9D28D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6964" y="366646"/>
            <a:ext cx="1220167" cy="509294"/>
          </a:xfrm>
        </p:spPr>
        <p:txBody>
          <a:bodyPr>
            <a:normAutofit fontScale="62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NTA (AL) SOUTHLAKE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6F342552-F514-4AD1-9FC8-34285AC9CC7E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488109" y="1827151"/>
            <a:ext cx="46810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*SE PUEDE USAR CUALQUIER  PFA </a:t>
            </a:r>
          </a:p>
          <a:p>
            <a:r>
              <a:rPr lang="en-US" dirty="0"/>
              <a:t>*SOLO LO VENDEMOS POR JLP agency</a:t>
            </a:r>
          </a:p>
          <a:p>
            <a:r>
              <a:rPr lang="en-US" dirty="0"/>
              <a:t>*frac sand declined</a:t>
            </a:r>
          </a:p>
          <a:p>
            <a:r>
              <a:rPr lang="en-US" dirty="0"/>
              <a:t>*</a:t>
            </a:r>
            <a:r>
              <a:rPr lang="es-MX" dirty="0"/>
              <a:t>se aceptan drivers de </a:t>
            </a:r>
            <a:r>
              <a:rPr lang="es-MX" dirty="0" err="1"/>
              <a:t>Mexico</a:t>
            </a:r>
            <a:endParaRPr lang="en-US" dirty="0"/>
          </a:p>
          <a:p>
            <a:r>
              <a:rPr lang="en-US" dirty="0"/>
              <a:t>*no </a:t>
            </a:r>
            <a:r>
              <a:rPr lang="en-US" dirty="0" err="1"/>
              <a:t>hacen</a:t>
            </a:r>
            <a:r>
              <a:rPr lang="en-US" dirty="0"/>
              <a:t> garbage</a:t>
            </a:r>
          </a:p>
          <a:p>
            <a:r>
              <a:rPr lang="es-MX" dirty="0"/>
              <a:t>*Requerimos al menos 18 meses con CDL.</a:t>
            </a:r>
          </a:p>
          <a:p>
            <a:r>
              <a:rPr lang="es-MX" dirty="0"/>
              <a:t>*no puede tener mas de 20años(camiones)</a:t>
            </a:r>
          </a:p>
          <a:p>
            <a:r>
              <a:rPr lang="es-MX" dirty="0"/>
              <a:t>*GRAIN HOPPER YES </a:t>
            </a:r>
          </a:p>
          <a:p>
            <a:r>
              <a:rPr lang="es-MX" dirty="0"/>
              <a:t>*NO ES BUENA PARA FLAT BED</a:t>
            </a:r>
          </a:p>
          <a:p>
            <a:r>
              <a:rPr lang="es-MX" dirty="0"/>
              <a:t>*REINSTATEMENT $50</a:t>
            </a:r>
          </a:p>
          <a:p>
            <a:r>
              <a:rPr lang="es-MX" dirty="0"/>
              <a:t>*A.I. $135</a:t>
            </a:r>
          </a:p>
          <a:p>
            <a:r>
              <a:rPr lang="es-MX" dirty="0"/>
              <a:t>*no hace </a:t>
            </a:r>
            <a:r>
              <a:rPr lang="es-MX" dirty="0" err="1"/>
              <a:t>hot</a:t>
            </a:r>
            <a:r>
              <a:rPr lang="es-MX" dirty="0"/>
              <a:t> </a:t>
            </a:r>
            <a:r>
              <a:rPr lang="es-MX" dirty="0" err="1"/>
              <a:t>shot</a:t>
            </a:r>
            <a:endParaRPr lang="es-MX"/>
          </a:p>
          <a:p>
            <a:endParaRPr lang="es-MX" dirty="0"/>
          </a:p>
          <a:p>
            <a:endParaRPr lang="en-US" dirty="0"/>
          </a:p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C4581-2B2D-42EA-BA20-FDF20C51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363" y="0"/>
            <a:ext cx="3496992" cy="124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65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C1C8-63B7-4FB7-AEEB-0F2DB8EF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FIRST CAPITAL </a:t>
            </a:r>
            <a:r>
              <a:rPr lang="es-ES" dirty="0" err="1">
                <a:solidFill>
                  <a:schemeClr val="bg2">
                    <a:lumMod val="50000"/>
                  </a:schemeClr>
                </a:solidFill>
              </a:rPr>
              <a:t>Categoria</a:t>
            </a: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 B </a:t>
            </a:r>
            <a:br>
              <a:rPr lang="es-E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CEDD-0E11-417C-8CED-FCBAAA9A1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591" y="1699108"/>
            <a:ext cx="2059066" cy="526072"/>
          </a:xfrm>
        </p:spPr>
        <p:txBody>
          <a:bodyPr>
            <a:normAutofit fontScale="92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AEGIS SECURITY ( AL)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465430" y="2551837"/>
            <a:ext cx="8596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*SE PUEDE USAR CUALQUIER  PFA </a:t>
            </a:r>
          </a:p>
          <a:p>
            <a:r>
              <a:rPr lang="en-US" dirty="0"/>
              <a:t>*SOLO LO VENDEMOS POR JLP agency</a:t>
            </a:r>
          </a:p>
          <a:p>
            <a:r>
              <a:rPr lang="en-US" dirty="0"/>
              <a:t>*No sand &amp; gravel and no dump operations.</a:t>
            </a:r>
          </a:p>
          <a:p>
            <a:r>
              <a:rPr lang="en-US" dirty="0"/>
              <a:t>*</a:t>
            </a:r>
            <a:r>
              <a:rPr lang="es-MX" dirty="0"/>
              <a:t>El conductor debe tener 2 años antes de CDL</a:t>
            </a:r>
            <a:endParaRPr lang="en-US" dirty="0"/>
          </a:p>
          <a:p>
            <a:r>
              <a:rPr lang="es-MX" dirty="0"/>
              <a:t>*No se permiten operaciones donde la esposa es la propietaria y el esposo es el conductor.</a:t>
            </a:r>
          </a:p>
          <a:p>
            <a:r>
              <a:rPr lang="en-US" dirty="0"/>
              <a:t>*</a:t>
            </a:r>
            <a:r>
              <a:rPr lang="es-MX" dirty="0"/>
              <a:t>Edad mínima 28 con mínimo de 2+ años. experiencia CDL.</a:t>
            </a:r>
          </a:p>
          <a:p>
            <a:r>
              <a:rPr lang="es-MX" dirty="0"/>
              <a:t>*Los conductores mayores de 66 años deben presentar una copia del Informe de examen médico del DMV más reciente</a:t>
            </a:r>
          </a:p>
          <a:p>
            <a:r>
              <a:rPr lang="es-MX" dirty="0"/>
              <a:t>*</a:t>
            </a:r>
            <a:r>
              <a:rPr lang="en-US" dirty="0"/>
              <a:t>No flatbed new ventures allowed.</a:t>
            </a:r>
          </a:p>
          <a:p>
            <a:r>
              <a:rPr lang="en-US" dirty="0"/>
              <a:t>*A.I.  $50</a:t>
            </a:r>
          </a:p>
          <a:p>
            <a:endParaRPr lang="es-MX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B605A-F968-4D62-9D8F-ECFD23630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046" y="314820"/>
            <a:ext cx="1511939" cy="1615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DBCB98-0202-45D4-96BD-98E12DDAFDA9}"/>
              </a:ext>
            </a:extLst>
          </p:cNvPr>
          <p:cNvSpPr txBox="1"/>
          <p:nvPr/>
        </p:nvSpPr>
        <p:spPr>
          <a:xfrm>
            <a:off x="9588617" y="609600"/>
            <a:ext cx="21391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Existe un formato para solicitar los </a:t>
            </a:r>
            <a:r>
              <a:rPr lang="es-MX" sz="1000" dirty="0" err="1"/>
              <a:t>Loss</a:t>
            </a:r>
            <a:r>
              <a:rPr lang="es-MX" sz="1000" dirty="0"/>
              <a:t> </a:t>
            </a:r>
            <a:r>
              <a:rPr lang="es-MX" sz="1000" dirty="0" err="1"/>
              <a:t>runs</a:t>
            </a:r>
            <a:r>
              <a:rPr lang="es-MX" sz="1000" dirty="0"/>
              <a:t> en caso de estar comprando con nosotros por 1era vez pero haber tenido seguro antes:</a:t>
            </a:r>
          </a:p>
          <a:p>
            <a:endParaRPr lang="es-MX" dirty="0"/>
          </a:p>
          <a:p>
            <a:r>
              <a:rPr lang="es-MX" dirty="0"/>
              <a:t>(</a:t>
            </a:r>
            <a:r>
              <a:rPr lang="es-MX" dirty="0" err="1"/>
              <a:t>click</a:t>
            </a:r>
            <a:r>
              <a:rPr lang="es-MX" dirty="0"/>
              <a:t> aquí abajo)</a:t>
            </a:r>
          </a:p>
          <a:p>
            <a:r>
              <a:rPr lang="en-US" dirty="0">
                <a:hlinkClick r:id="rId3" action="ppaction://hlinkfile"/>
              </a:rPr>
              <a:t>FIRST  CAPITAL\Authorization for Release of Loss History Information.pdf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69364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62A68-7A29-4BA9-B8F6-7583AEC96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188" y="1474919"/>
            <a:ext cx="1572504" cy="691755"/>
          </a:xfrm>
        </p:spPr>
        <p:txBody>
          <a:bodyPr>
            <a:normAutofit fontScale="850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PROGRESIVE – AL – MTC –PD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6DABE4E7-1C89-4B26-AFB3-F866AF84A931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351420" y="1705009"/>
            <a:ext cx="53736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*ELLOS MISMO FINANCEAN TODO</a:t>
            </a:r>
          </a:p>
          <a:p>
            <a:r>
              <a:rPr lang="en-US" dirty="0"/>
              <a:t>*</a:t>
            </a:r>
            <a:r>
              <a:rPr lang="es-MX" dirty="0"/>
              <a:t>conductor con licencia internacional, no es elegible para nuestro programa Comercial</a:t>
            </a:r>
          </a:p>
          <a:p>
            <a:r>
              <a:rPr lang="en-US" dirty="0"/>
              <a:t>*se </a:t>
            </a:r>
            <a:r>
              <a:rPr lang="en-US" dirty="0" err="1"/>
              <a:t>añade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 “</a:t>
            </a:r>
            <a:r>
              <a:rPr lang="en-US" dirty="0" err="1"/>
              <a:t>negocios</a:t>
            </a:r>
            <a:r>
              <a:rPr lang="en-US" dirty="0"/>
              <a:t>” y “contractor”</a:t>
            </a:r>
          </a:p>
          <a:p>
            <a:r>
              <a:rPr lang="en-US" dirty="0"/>
              <a:t>*</a:t>
            </a:r>
            <a:r>
              <a:rPr lang="en-US" dirty="0" err="1"/>
              <a:t>hace</a:t>
            </a:r>
            <a:r>
              <a:rPr lang="en-US" dirty="0"/>
              <a:t> monoline</a:t>
            </a:r>
          </a:p>
          <a:p>
            <a:endParaRPr lang="en-US" dirty="0"/>
          </a:p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0C7A36-77B9-4EB5-A1CB-FBF0170BF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6" y="152671"/>
            <a:ext cx="3615140" cy="1130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CB646-BD4B-4087-BB28-557FC54A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88" y="2157323"/>
            <a:ext cx="3315163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81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71BE5-C005-418D-B8F0-40A093AF5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2054" y="398917"/>
            <a:ext cx="2721796" cy="1281082"/>
          </a:xfrm>
        </p:spPr>
        <p:txBody>
          <a:bodyPr>
            <a:normAutofit fontScale="400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ACELERANT MTC –PD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INCLINEMTC –PD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DB – AL –MTC- 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LLOYDS –MTC –PD 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TRINITY  -MTC –PD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HIGHLANDER  AL </a:t>
            </a: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F1BCC026-6D46-4E76-BB87-6453D8844FC5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19315" y="2413337"/>
            <a:ext cx="93998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*HACE MONOLINE </a:t>
            </a:r>
          </a:p>
          <a:p>
            <a:r>
              <a:rPr lang="en-US" dirty="0"/>
              <a:t>*SE PUEDE USAR OTRO PFA SIEMPRE Y CUANDO LA LIABILITY SE COMPRE EN OTRA AGENCIA, </a:t>
            </a:r>
          </a:p>
          <a:p>
            <a:r>
              <a:rPr lang="en-US" dirty="0"/>
              <a:t>SI LES COMPRAN SOLO UNA POLIZA  (monoline)</a:t>
            </a:r>
          </a:p>
          <a:p>
            <a:r>
              <a:rPr lang="en-US" dirty="0"/>
              <a:t>*</a:t>
            </a:r>
            <a:r>
              <a:rPr lang="es-MX" dirty="0"/>
              <a:t>El conductor debe tener 23 años o más y 70 o menos</a:t>
            </a:r>
            <a:endParaRPr lang="en-US" dirty="0"/>
          </a:p>
          <a:p>
            <a:r>
              <a:rPr lang="en-US" dirty="0"/>
              <a:t>*</a:t>
            </a:r>
            <a:r>
              <a:rPr lang="es-MX" dirty="0"/>
              <a:t>Experiencia mínima de 2 años en conducción de camiones comerciales.</a:t>
            </a:r>
            <a:endParaRPr lang="en-US" dirty="0"/>
          </a:p>
          <a:p>
            <a:r>
              <a:rPr lang="en-US" dirty="0"/>
              <a:t>*</a:t>
            </a:r>
            <a:r>
              <a:rPr lang="es-MX" dirty="0"/>
              <a:t>SI LA COMPAÑÍA TIENE APENAS UN AÑO PERO TIENE ACCIDENTES AUTOMÁTICAMENTE NO LO ACEPTAN </a:t>
            </a:r>
            <a:endParaRPr lang="en-US" dirty="0"/>
          </a:p>
          <a:p>
            <a:r>
              <a:rPr lang="en-US" dirty="0"/>
              <a:t>*</a:t>
            </a:r>
            <a:r>
              <a:rPr lang="es-MX" dirty="0"/>
              <a:t>Todos los tractores de más de 15 años y todos los remolques de más de 20 años deben tener un informe de inspección mecánica completado.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EE0026-869B-4A5D-BCE9-2E9C6054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151" y="0"/>
            <a:ext cx="2895851" cy="20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94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68AA8-58CC-4D06-B509-2F8D718F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9671" y="83818"/>
            <a:ext cx="1950009" cy="1465639"/>
          </a:xfrm>
        </p:spPr>
        <p:txBody>
          <a:bodyPr>
            <a:normAutofit fontScale="62500" lnSpcReduction="20000"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ACELERANT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AMERICAN INTERFIDELITY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LLOYS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ALPINE (AL)</a:t>
            </a:r>
          </a:p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CANOPIUS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56BF9330-6379-4C20-B494-478F0CF7DE77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97048" y="2038948"/>
            <a:ext cx="57359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*ANTES DE ACTIVAR LA POLIZA DEBEN HACER EL PAGO </a:t>
            </a:r>
          </a:p>
          <a:p>
            <a:r>
              <a:rPr lang="en-US" dirty="0"/>
              <a:t>A TREATY</a:t>
            </a:r>
          </a:p>
          <a:p>
            <a:r>
              <a:rPr lang="en-US" dirty="0"/>
              <a:t>*SE HACE MONOLINE </a:t>
            </a:r>
          </a:p>
          <a:p>
            <a:r>
              <a:rPr lang="en-US" dirty="0"/>
              <a:t>*SE PUEDE USAR CUALQUIER PFA</a:t>
            </a:r>
          </a:p>
          <a:p>
            <a:r>
              <a:rPr lang="en-US" dirty="0"/>
              <a:t>*</a:t>
            </a:r>
            <a:r>
              <a:rPr lang="es-MX" dirty="0"/>
              <a:t>NO ACEPTA VEHICULOS CON MAS DE 20 AÑOS </a:t>
            </a:r>
            <a:endParaRPr lang="en-US" dirty="0"/>
          </a:p>
          <a:p>
            <a:r>
              <a:rPr lang="en-US" dirty="0"/>
              <a:t>*</a:t>
            </a:r>
            <a:r>
              <a:rPr lang="es-MX" dirty="0"/>
              <a:t>NO ACEPTA TRAILERS CON MAS DE 25 AÑOS</a:t>
            </a:r>
            <a:endParaRPr lang="en-US" dirty="0"/>
          </a:p>
          <a:p>
            <a:r>
              <a:rPr lang="en-US" dirty="0"/>
              <a:t> </a:t>
            </a:r>
          </a:p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C0D20-840D-4D41-A146-9A2F740C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84" y="65228"/>
            <a:ext cx="2661230" cy="166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33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bbon: Curved and Tilted Up 4">
            <a:hlinkClick r:id="rId2" action="ppaction://hlinksldjump"/>
            <a:extLst>
              <a:ext uri="{FF2B5EF4-FFF2-40B4-BE49-F238E27FC236}">
                <a16:creationId xmlns:a16="http://schemas.microsoft.com/office/drawing/2014/main" id="{56BF9330-6379-4C20-B494-478F0CF7DE77}"/>
              </a:ext>
            </a:extLst>
          </p:cNvPr>
          <p:cNvSpPr/>
          <p:nvPr/>
        </p:nvSpPr>
        <p:spPr>
          <a:xfrm>
            <a:off x="10898038" y="6254151"/>
            <a:ext cx="1293962" cy="603849"/>
          </a:xfrm>
          <a:prstGeom prst="ellipseRibbon2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7D159-1C0C-4FE7-954D-E806D42E0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175" y="297058"/>
            <a:ext cx="5017443" cy="542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0368B1-2D95-4B05-921A-E4C5A682E550}"/>
              </a:ext>
            </a:extLst>
          </p:cNvPr>
          <p:cNvSpPr txBox="1"/>
          <p:nvPr/>
        </p:nvSpPr>
        <p:spPr>
          <a:xfrm>
            <a:off x="780176" y="1476462"/>
            <a:ext cx="44042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*NO NEW VENTURE- Tienen que tener 3 YEARS o mas.</a:t>
            </a:r>
          </a:p>
          <a:p>
            <a:r>
              <a:rPr lang="es-MX" dirty="0"/>
              <a:t>*TRABAJAN CON EL UIIA SOLO PARA EL MOTOR CARGO Y OFRECEN TRAILER INTERCHANGE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8368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50E01-EA12-49AD-9C8F-AD4051C796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(FOR NEW) Owner has to be a driver</a:t>
            </a:r>
          </a:p>
          <a:p>
            <a:r>
              <a:rPr lang="es-MX" dirty="0"/>
              <a:t>RADIUS 500+</a:t>
            </a:r>
            <a:endParaRPr lang="en-US" dirty="0"/>
          </a:p>
          <a:p>
            <a:r>
              <a:rPr lang="pt-BR" dirty="0"/>
              <a:t>TRUCK MODEL 2000 O MAS</a:t>
            </a:r>
            <a:endParaRPr lang="en-US" dirty="0"/>
          </a:p>
          <a:p>
            <a:r>
              <a:rPr lang="en-US" dirty="0"/>
              <a:t>Truckers General Liability Limits up to $1,000,000/$2,000,000</a:t>
            </a:r>
          </a:p>
          <a:p>
            <a:r>
              <a:rPr lang="en-US" dirty="0"/>
              <a:t>No oilfield, auto hauler or tanker exposures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F8C51-944B-403D-A81A-32235852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719"/>
            <a:ext cx="3301023" cy="166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68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AE2C-A408-4F11-B6E4-66DF5A1D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282270" cy="1110143"/>
          </a:xfrm>
        </p:spPr>
        <p:txBody>
          <a:bodyPr/>
          <a:lstStyle/>
          <a:p>
            <a:r>
              <a:rPr lang="es-MX" dirty="0" err="1"/>
              <a:t>Crum</a:t>
            </a:r>
            <a:r>
              <a:rPr lang="es-MX" dirty="0"/>
              <a:t> &amp; </a:t>
            </a:r>
            <a:r>
              <a:rPr lang="es-MX" dirty="0" err="1"/>
              <a:t>foster</a:t>
            </a:r>
            <a:endParaRPr lang="es-MX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79968-C815-4C8E-AC6F-058A64B1D2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Must have 3 years prior coverage</a:t>
            </a:r>
          </a:p>
          <a:p>
            <a:r>
              <a:rPr lang="en-US" dirty="0"/>
              <a:t>Drivers must have a minimum of 2 years CDL experience</a:t>
            </a:r>
          </a:p>
          <a:p>
            <a:r>
              <a:rPr lang="en-US" dirty="0"/>
              <a:t>Age of units 20 years old and newer. Must be equipped with ELDs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23346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E81CE-4AAD-435C-84E1-D6DD52666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139193"/>
            <a:ext cx="4185623" cy="3902169"/>
          </a:xfrm>
        </p:spPr>
        <p:txBody>
          <a:bodyPr/>
          <a:lstStyle/>
          <a:p>
            <a:r>
              <a:rPr lang="es-MX" dirty="0"/>
              <a:t>No </a:t>
            </a:r>
            <a:r>
              <a:rPr lang="es-MX" dirty="0" err="1"/>
              <a:t>radius</a:t>
            </a:r>
            <a:r>
              <a:rPr lang="es-MX" dirty="0"/>
              <a:t> </a:t>
            </a:r>
            <a:r>
              <a:rPr lang="es-MX" dirty="0" err="1"/>
              <a:t>restrictions</a:t>
            </a:r>
            <a:endParaRPr lang="es-MX" dirty="0"/>
          </a:p>
          <a:p>
            <a:r>
              <a:rPr lang="en-US" dirty="0"/>
              <a:t>drivers </a:t>
            </a:r>
            <a:r>
              <a:rPr lang="en-US" dirty="0" err="1"/>
              <a:t>muts</a:t>
            </a:r>
            <a:r>
              <a:rPr lang="en-US" dirty="0"/>
              <a:t> be at </a:t>
            </a:r>
            <a:r>
              <a:rPr lang="en-US" dirty="0" err="1"/>
              <a:t>leats</a:t>
            </a:r>
            <a:r>
              <a:rPr lang="en-US" dirty="0"/>
              <a:t> 23 years</a:t>
            </a:r>
            <a:endParaRPr lang="es-MX" dirty="0"/>
          </a:p>
          <a:p>
            <a:r>
              <a:rPr lang="es-MX" dirty="0"/>
              <a:t>al menos 2 años de experiencia operando </a:t>
            </a:r>
            <a:r>
              <a:rPr lang="es-MX" dirty="0" err="1"/>
              <a:t>trailers</a:t>
            </a:r>
            <a:r>
              <a:rPr lang="es-MX" dirty="0"/>
              <a:t>/camiones</a:t>
            </a:r>
          </a:p>
          <a:p>
            <a:r>
              <a:rPr lang="es-MX" dirty="0"/>
              <a:t>(nueva aventura) Debe tener solo una unidad de potencia durante los primeros dos años de autoridad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9D9E0-4409-4FC9-8EAC-A94E023A1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05" y="59294"/>
            <a:ext cx="4779678" cy="10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41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6E475-4D9C-4CA4-AD63-61617BCF0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409" y="1688621"/>
            <a:ext cx="4185623" cy="3304117"/>
          </a:xfrm>
        </p:spPr>
        <p:txBody>
          <a:bodyPr>
            <a:normAutofit fontScale="62500" lnSpcReduction="20000"/>
          </a:bodyPr>
          <a:lstStyle/>
          <a:p>
            <a:r>
              <a:rPr lang="es-MX" dirty="0"/>
              <a:t>Es un RRG</a:t>
            </a:r>
          </a:p>
          <a:p>
            <a:r>
              <a:rPr lang="es-MX" dirty="0"/>
              <a:t>Los conductores deben tener al menos 1 año de experiencia de conducción CDL</a:t>
            </a:r>
          </a:p>
          <a:p>
            <a:r>
              <a:rPr lang="es-MX" dirty="0"/>
              <a:t>Se requiere que el propietario de una nueva empresa tenga 3 años de experiencia en la industria (conducción o de otro tipo)</a:t>
            </a:r>
          </a:p>
          <a:p>
            <a:r>
              <a:rPr lang="es-MX" dirty="0" err="1"/>
              <a:t>Liability</a:t>
            </a:r>
            <a:r>
              <a:rPr lang="es-MX" dirty="0"/>
              <a:t> </a:t>
            </a:r>
            <a:r>
              <a:rPr lang="es-MX" dirty="0" err="1"/>
              <a:t>only</a:t>
            </a:r>
            <a:endParaRPr lang="es-MX" dirty="0"/>
          </a:p>
          <a:p>
            <a:r>
              <a:rPr lang="es-MX"/>
              <a:t>No se aceptan unidades de potencia mayores de 19 años.</a:t>
            </a:r>
          </a:p>
          <a:p>
            <a:r>
              <a:rPr lang="en-US"/>
              <a:t>No </a:t>
            </a:r>
            <a:r>
              <a:rPr lang="en-US" dirty="0"/>
              <a:t>international drivers accepted at this time</a:t>
            </a:r>
          </a:p>
          <a:p>
            <a:r>
              <a:rPr lang="es-MX" dirty="0"/>
              <a:t>No harán arena ni grava, sin embargo, considerarán Frac </a:t>
            </a:r>
            <a:r>
              <a:rPr lang="es-MX" dirty="0" err="1"/>
              <a:t>Sand</a:t>
            </a:r>
            <a:r>
              <a:rPr lang="es-MX" dirty="0"/>
              <a:t> en un remolque cerrado, pero deben tener una cobertura previa de 3 años.</a:t>
            </a:r>
          </a:p>
          <a:p>
            <a:r>
              <a:rPr lang="es-MX" dirty="0"/>
              <a:t>Tenga en cuenta que MTM requiere que el pago inicial se pague en su totalidad antes de vincular la cobertura o realizar cualquier presentación</a:t>
            </a:r>
          </a:p>
          <a:p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6DC2B7-2952-484E-8E76-B96E297E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794" y="27137"/>
            <a:ext cx="6657409" cy="15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60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E874-24EA-47F8-9DB2-2218C4452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631" y="1776941"/>
            <a:ext cx="4185623" cy="3304117"/>
          </a:xfrm>
        </p:spPr>
        <p:txBody>
          <a:bodyPr>
            <a:normAutofit fontScale="85000" lnSpcReduction="10000"/>
          </a:bodyPr>
          <a:lstStyle/>
          <a:p>
            <a:r>
              <a:rPr lang="es-MX" dirty="0"/>
              <a:t>AL$1,000,000 per </a:t>
            </a:r>
            <a:r>
              <a:rPr lang="es-MX" dirty="0" err="1"/>
              <a:t>event</a:t>
            </a:r>
            <a:r>
              <a:rPr lang="es-MX" dirty="0"/>
              <a:t>.</a:t>
            </a:r>
          </a:p>
          <a:p>
            <a:r>
              <a:rPr lang="es-MX" dirty="0"/>
              <a:t>No hay unidades de potencia de más de 20 años</a:t>
            </a:r>
            <a:r>
              <a:rPr lang="en-US" dirty="0"/>
              <a:t>, reefer or non-reefer</a:t>
            </a:r>
          </a:p>
          <a:p>
            <a:r>
              <a:rPr lang="es-MX" dirty="0"/>
              <a:t>No se aceptan remolques de más de 25 años</a:t>
            </a:r>
          </a:p>
          <a:p>
            <a:r>
              <a:rPr lang="en-US" dirty="0"/>
              <a:t>Acceptable ages 21-70 years old</a:t>
            </a:r>
            <a:endParaRPr lang="es-MX" dirty="0"/>
          </a:p>
          <a:p>
            <a:r>
              <a:rPr lang="en-US" dirty="0"/>
              <a:t>Minimum of 1 year of CDL experience*</a:t>
            </a:r>
            <a:endParaRPr lang="es-MX" dirty="0"/>
          </a:p>
          <a:p>
            <a:r>
              <a:rPr lang="es-MX" dirty="0"/>
              <a:t>Aceptará menos de un año de experiencia CDL, en caso por </a:t>
            </a:r>
            <a:r>
              <a:rPr lang="es-MX" dirty="0" err="1"/>
              <a:t>casobase</a:t>
            </a:r>
            <a:r>
              <a:rPr lang="es-MX" dirty="0"/>
              <a:t> podría traer un recargo</a:t>
            </a:r>
          </a:p>
          <a:p>
            <a:r>
              <a:rPr lang="es-MX" dirty="0"/>
              <a:t>NO HACE WATER HAULING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8CD46F-FA00-4C58-854B-CFE32C8D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219" y="36689"/>
            <a:ext cx="2846894" cy="19222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84A178-0317-4026-B9EA-D52953B66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549" y="2256500"/>
            <a:ext cx="4285859" cy="3200677"/>
          </a:xfrm>
          <a:prstGeom prst="rect">
            <a:avLst/>
          </a:prstGeom>
        </p:spPr>
      </p:pic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82BC343E-9CDE-49C4-98B7-CC814A9DA5A2}"/>
              </a:ext>
            </a:extLst>
          </p:cNvPr>
          <p:cNvSpPr/>
          <p:nvPr/>
        </p:nvSpPr>
        <p:spPr>
          <a:xfrm>
            <a:off x="6904139" y="2348917"/>
            <a:ext cx="4093828" cy="3045204"/>
          </a:xfrm>
          <a:prstGeom prst="noSmoking">
            <a:avLst>
              <a:gd name="adj" fmla="val 58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956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F0F1E-A0F2-4743-A318-C2573E8B8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523" y="1864790"/>
            <a:ext cx="4185623" cy="3304117"/>
          </a:xfrm>
        </p:spPr>
        <p:txBody>
          <a:bodyPr>
            <a:normAutofit fontScale="85000" lnSpcReduction="20000"/>
          </a:bodyPr>
          <a:lstStyle/>
          <a:p>
            <a:r>
              <a:rPr lang="es-MX" dirty="0"/>
              <a:t>El dueño no tiene que ser conductor</a:t>
            </a:r>
          </a:p>
          <a:p>
            <a:r>
              <a:rPr lang="es-MX" dirty="0"/>
              <a:t>los conductores no tienen que tener licencias en el mismo estado en el que está domiciliada la empresa</a:t>
            </a:r>
          </a:p>
          <a:p>
            <a:r>
              <a:rPr lang="es-MX" dirty="0"/>
              <a:t>Debe escribir todas las líneas con nosotros, no se ofrecerá AL independiente.</a:t>
            </a:r>
          </a:p>
          <a:p>
            <a:r>
              <a:rPr lang="en-US" dirty="0"/>
              <a:t>no age limit on </a:t>
            </a:r>
            <a:r>
              <a:rPr lang="en-US" dirty="0" err="1"/>
              <a:t>equipement</a:t>
            </a:r>
            <a:endParaRPr lang="es-MX" dirty="0"/>
          </a:p>
          <a:p>
            <a:r>
              <a:rPr lang="es-MX" dirty="0"/>
              <a:t>todos los propietarios y conductores deben tener más de 2 años de experiencia comprobable</a:t>
            </a:r>
          </a:p>
          <a:p>
            <a:r>
              <a:rPr lang="es-MX" dirty="0" err="1"/>
              <a:t>reinstatement</a:t>
            </a:r>
            <a:r>
              <a:rPr lang="es-MX" dirty="0"/>
              <a:t> fee $150</a:t>
            </a:r>
          </a:p>
          <a:p>
            <a:r>
              <a:rPr lang="es-MX" dirty="0" err="1"/>
              <a:t>camaras</a:t>
            </a:r>
            <a:r>
              <a:rPr lang="es-MX" dirty="0"/>
              <a:t> son </a:t>
            </a:r>
            <a:r>
              <a:rPr lang="es-MX" dirty="0" err="1"/>
              <a:t>oligatorias</a:t>
            </a:r>
            <a:r>
              <a:rPr lang="es-MX"/>
              <a:t> </a:t>
            </a:r>
            <a:endParaRPr lang="es-MX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09409-5DB2-4BA7-99EA-59F509F22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419" y="0"/>
            <a:ext cx="2530059" cy="115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4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0720-78E9-4EC3-8F3E-1008D25B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833309" cy="576262"/>
          </a:xfrm>
        </p:spPr>
        <p:txBody>
          <a:bodyPr>
            <a:normAutofit fontScale="90000"/>
          </a:bodyPr>
          <a:lstStyle/>
          <a:p>
            <a:r>
              <a:rPr lang="es-MX" dirty="0"/>
              <a:t>Brazos (</a:t>
            </a:r>
            <a:r>
              <a:rPr lang="es-MX" dirty="0" err="1"/>
              <a:t>bsri</a:t>
            </a:r>
            <a:r>
              <a:rPr lang="es-MX" dirty="0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412230-9485-4FFE-B2E4-D2339D09F64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1324817"/>
              </p:ext>
            </p:extLst>
          </p:nvPr>
        </p:nvGraphicFramePr>
        <p:xfrm>
          <a:off x="677334" y="1654015"/>
          <a:ext cx="4411048" cy="2313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381">
                  <a:extLst>
                    <a:ext uri="{9D8B030D-6E8A-4147-A177-3AD203B41FA5}">
                      <a16:colId xmlns:a16="http://schemas.microsoft.com/office/drawing/2014/main" val="449779817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2975554863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4189440970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4188200878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3198719984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1676563397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3091323837"/>
                    </a:ext>
                  </a:extLst>
                </a:gridCol>
                <a:gridCol w="551381">
                  <a:extLst>
                    <a:ext uri="{9D8B030D-6E8A-4147-A177-3AD203B41FA5}">
                      <a16:colId xmlns:a16="http://schemas.microsoft.com/office/drawing/2014/main" val="4216142606"/>
                    </a:ext>
                  </a:extLst>
                </a:gridCol>
              </a:tblGrid>
              <a:tr h="237848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NOTES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2388101269"/>
                  </a:ext>
                </a:extLst>
              </a:tr>
              <a:tr h="237848"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se trabaja bajo greenland y VL-17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79451465"/>
                  </a:ext>
                </a:extLst>
              </a:tr>
              <a:tr h="237848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no hace intrastate 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1319473530"/>
                  </a:ext>
                </a:extLst>
              </a:tr>
              <a:tr h="237848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no acepta drivers de NY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752003696"/>
                  </a:ext>
                </a:extLst>
              </a:tr>
              <a:tr h="237848"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drivers edad minima 23 maxima de 75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1218422754"/>
                  </a:ext>
                </a:extLst>
              </a:tr>
              <a:tr h="237848"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driver mayor de 65+ requiere medical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2140106774"/>
                  </a:ext>
                </a:extLst>
              </a:tr>
              <a:tr h="237848">
                <a:tc gridSpan="8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si los conductores tienen menos de 24 meses de experiencia, aplican rates altos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57991"/>
                  </a:ext>
                </a:extLst>
              </a:tr>
              <a:tr h="237848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si los driver tienen violaciones pueden aplicar cargos adicionales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 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extLst>
                  <a:ext uri="{0D108BD9-81ED-4DB2-BD59-A6C34878D82A}">
                    <a16:rowId xmlns:a16="http://schemas.microsoft.com/office/drawing/2014/main" val="3332403127"/>
                  </a:ext>
                </a:extLst>
              </a:tr>
              <a:tr h="411044">
                <a:tc gridSpan="8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 dirty="0">
                          <a:effectLst/>
                        </a:rPr>
                        <a:t>las violaciones tienen que tener mas de 24 meses para que no se decline al driver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73" marR="8173" marT="8173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51759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5A992-2964-4F94-9EE5-881CB05AA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609600"/>
            <a:ext cx="4185618" cy="576262"/>
          </a:xfrm>
        </p:spPr>
        <p:txBody>
          <a:bodyPr/>
          <a:lstStyle/>
          <a:p>
            <a:r>
              <a:rPr lang="es-MX" dirty="0"/>
              <a:t>Clases prohibidas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AFEE55-B778-459E-AC42-4594B3D5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243" y="1303565"/>
            <a:ext cx="6691758" cy="317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96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E3F6-25D6-4B04-A37F-2161F4CA0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719009" cy="1320800"/>
          </a:xfrm>
        </p:spPr>
        <p:txBody>
          <a:bodyPr/>
          <a:lstStyle/>
          <a:p>
            <a:r>
              <a:rPr lang="es-MX" dirty="0"/>
              <a:t>SOUTHWEST</a:t>
            </a:r>
            <a:br>
              <a:rPr lang="es-MX" dirty="0"/>
            </a:br>
            <a:r>
              <a:rPr lang="es-MX" dirty="0"/>
              <a:t>RISK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2C2A7-9531-47B6-97CF-503FEDC17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459" y="1961961"/>
            <a:ext cx="4185623" cy="3304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s-MX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Units should be 15 years or newer. 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Es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categoria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A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 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partir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 $1,000,000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Si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el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dueño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es conductor debe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tener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3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años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experiencia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o mas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Si es conductor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contratado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debe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tener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2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años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expericiencia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o mas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requiere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clase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en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cdl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compite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con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qeo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MX" dirty="0"/>
              <a:t>Si es new venture dueño no </a:t>
            </a:r>
            <a:r>
              <a:rPr lang="es-MX"/>
              <a:t>puede excluirse</a:t>
            </a:r>
          </a:p>
          <a:p>
            <a:endParaRPr lang="es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81CA9-E168-46C0-8B18-7F3EBF05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37824" y="-15988"/>
            <a:ext cx="4185618" cy="576262"/>
          </a:xfrm>
        </p:spPr>
        <p:txBody>
          <a:bodyPr/>
          <a:lstStyle/>
          <a:p>
            <a:r>
              <a:rPr lang="es-MX" dirty="0"/>
              <a:t>Comodidades inaceptables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EE1C1-9EA6-4DC2-B072-BF05A4DE5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37824" y="309903"/>
            <a:ext cx="4185617" cy="3304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s-MX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Flatbed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Freight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Agricultural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Goods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Animals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Household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Goods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Auto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Haulers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Hazardous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Materials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Haulers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Oversize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/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Overweight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Loads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Hauling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Hot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shot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FF0000"/>
                </a:solidFill>
                <a:latin typeface="Arial Black" panose="020B0A04020102020204" pitchFamily="34" charset="0"/>
              </a:rPr>
              <a:t>trucking</a:t>
            </a:r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s-MX" dirty="0">
                <a:solidFill>
                  <a:srgbClr val="FF0000"/>
                </a:solidFill>
                <a:latin typeface="Arial Black" panose="020B0A04020102020204" pitchFamily="34" charset="0"/>
              </a:rPr>
              <a:t>Mixer/concrete</a:t>
            </a:r>
          </a:p>
          <a:p>
            <a:r>
              <a:rPr lang="es-MX" sz="1800" b="0" i="0" u="none" strike="noStrike" baseline="0" dirty="0">
                <a:solidFill>
                  <a:srgbClr val="FF0000"/>
                </a:solidFill>
                <a:latin typeface="Arial Black" panose="020B0A04020102020204" pitchFamily="34" charset="0"/>
              </a:rPr>
              <a:t>NO FRAC SAND</a:t>
            </a:r>
          </a:p>
          <a:p>
            <a:endParaRPr lang="es-MX" sz="1800" b="0" i="0" u="none" strike="noStrike" baseline="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97F6C-7D79-47BB-84FB-CD3BBE5205F8}"/>
              </a:ext>
            </a:extLst>
          </p:cNvPr>
          <p:cNvSpPr txBox="1"/>
          <p:nvPr/>
        </p:nvSpPr>
        <p:spPr>
          <a:xfrm>
            <a:off x="6127827" y="4826675"/>
            <a:ext cx="5551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B050"/>
                </a:solidFill>
              </a:rPr>
              <a:t>Si hace </a:t>
            </a:r>
          </a:p>
          <a:p>
            <a:endParaRPr lang="es-MX" sz="1800" b="0" i="0" u="none" strike="noStrike" baseline="0" dirty="0">
              <a:solidFill>
                <a:srgbClr val="00B050"/>
              </a:solidFill>
              <a:latin typeface="Symbol" panose="05050102010706020507" pitchFamily="18" charset="2"/>
            </a:endParaRPr>
          </a:p>
          <a:p>
            <a:r>
              <a:rPr lang="es-MX" sz="1800" b="0" i="0" u="none" strike="noStrike" baseline="0" dirty="0">
                <a:solidFill>
                  <a:srgbClr val="00B050"/>
                </a:solidFill>
                <a:latin typeface="Symbol" panose="05050102010706020507" pitchFamily="18" charset="2"/>
              </a:rPr>
              <a:t>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Dryvan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Refrigerated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Goods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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Dirt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/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Sand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/</a:t>
            </a:r>
            <a:r>
              <a:rPr lang="es-MX" sz="1800" b="0" i="0" u="none" strike="noStrike" baseline="0" dirty="0" err="1">
                <a:solidFill>
                  <a:srgbClr val="00B050"/>
                </a:solidFill>
                <a:latin typeface="Calibri" panose="020F0502020204030204" pitchFamily="34" charset="0"/>
              </a:rPr>
              <a:t>Gravel</a:t>
            </a:r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es-MX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Intermodal/UIIA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58627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3840</TotalTime>
  <Words>2262</Words>
  <Application>Microsoft Office PowerPoint</Application>
  <PresentationFormat>Widescreen</PresentationFormat>
  <Paragraphs>353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Black</vt:lpstr>
      <vt:lpstr>ArialMT</vt:lpstr>
      <vt:lpstr>Calibri</vt:lpstr>
      <vt:lpstr>Symbol</vt:lpstr>
      <vt:lpstr>Trebuchet MS</vt:lpstr>
      <vt:lpstr>Wingdings 3</vt:lpstr>
      <vt:lpstr>Faceta</vt:lpstr>
      <vt:lpstr>AJM INSURANCE &amp; TRUCKING SERVICE</vt:lpstr>
      <vt:lpstr>MGA: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BASS </vt:lpstr>
      <vt:lpstr>CRC GROUP </vt:lpstr>
      <vt:lpstr>PowerPoint Presentation</vt:lpstr>
      <vt:lpstr>PowerPoint Presentation</vt:lpstr>
      <vt:lpstr>PowerPoint Presentation</vt:lpstr>
      <vt:lpstr>brooklyn</vt:lpstr>
      <vt:lpstr>PowerPoint Presentation</vt:lpstr>
      <vt:lpstr>PowerPoint Presentation</vt:lpstr>
      <vt:lpstr>PowerPoint Presentation</vt:lpstr>
      <vt:lpstr>ONE 80 Categoria B </vt:lpstr>
      <vt:lpstr>PowerPoint Presentation</vt:lpstr>
      <vt:lpstr>FIRST CAPITAL Categoria B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Crum &amp; foster</vt:lpstr>
      <vt:lpstr>PowerPoint Presentation</vt:lpstr>
      <vt:lpstr>PowerPoint Presentation</vt:lpstr>
      <vt:lpstr>PowerPoint Presentation</vt:lpstr>
      <vt:lpstr>PowerPoint Presentation</vt:lpstr>
      <vt:lpstr>Brazos (bsri)</vt:lpstr>
      <vt:lpstr>SOUTHWEST RISK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Qualitas (Clase B)              Cobertura : AL $ 1,000,000 - $ 750,000  - MTC – PD</dc:title>
  <dc:creator>Janus</dc:creator>
  <cp:lastModifiedBy>PCMEXICO</cp:lastModifiedBy>
  <cp:revision>96</cp:revision>
  <dcterms:created xsi:type="dcterms:W3CDTF">2022-02-28T19:42:16Z</dcterms:created>
  <dcterms:modified xsi:type="dcterms:W3CDTF">2023-06-13T17:49:56Z</dcterms:modified>
</cp:coreProperties>
</file>