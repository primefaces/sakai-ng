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14"/>
  </p:notesMasterIdLst>
  <p:sldIdLst>
    <p:sldId id="273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FC814B-88A9-4FD4-8C53-FA3DA838314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7C80B5-BC47-4EB8-85E1-0E4C6B84D515}">
      <dgm:prSet phldrT="[Text]"/>
      <dgm:spPr/>
      <dgm:t>
        <a:bodyPr/>
        <a:lstStyle/>
        <a:p>
          <a:r>
            <a:rPr lang="es-MX" dirty="0" smtClean="0"/>
            <a:t>CLIENTE </a:t>
          </a:r>
          <a:endParaRPr lang="en-US" dirty="0"/>
        </a:p>
      </dgm:t>
    </dgm:pt>
    <dgm:pt modelId="{364FB577-BD1B-450F-B241-D720ED2B90F6}" type="parTrans" cxnId="{0981CE59-6583-46A7-8F89-632BD6A78C1D}">
      <dgm:prSet/>
      <dgm:spPr/>
      <dgm:t>
        <a:bodyPr/>
        <a:lstStyle/>
        <a:p>
          <a:endParaRPr lang="en-US"/>
        </a:p>
      </dgm:t>
    </dgm:pt>
    <dgm:pt modelId="{090385AF-EEC6-46E0-848F-FB632221C9EF}" type="sibTrans" cxnId="{0981CE59-6583-46A7-8F89-632BD6A78C1D}">
      <dgm:prSet/>
      <dgm:spPr/>
      <dgm:t>
        <a:bodyPr/>
        <a:lstStyle/>
        <a:p>
          <a:endParaRPr lang="en-US"/>
        </a:p>
      </dgm:t>
    </dgm:pt>
    <dgm:pt modelId="{7CB68FEE-653F-425A-9C51-653C73EC881B}">
      <dgm:prSet phldrT="[Text]"/>
      <dgm:spPr/>
      <dgm:t>
        <a:bodyPr/>
        <a:lstStyle/>
        <a:p>
          <a:r>
            <a:rPr lang="es-MX" dirty="0" smtClean="0"/>
            <a:t>AGENCIA </a:t>
          </a:r>
          <a:endParaRPr lang="en-US" dirty="0"/>
        </a:p>
      </dgm:t>
    </dgm:pt>
    <dgm:pt modelId="{C906B737-7F08-4EC2-BCA2-76CD34095F78}" type="parTrans" cxnId="{04F7BED7-4B56-44EB-9099-29994103E9B0}">
      <dgm:prSet/>
      <dgm:spPr/>
      <dgm:t>
        <a:bodyPr/>
        <a:lstStyle/>
        <a:p>
          <a:endParaRPr lang="en-US"/>
        </a:p>
      </dgm:t>
    </dgm:pt>
    <dgm:pt modelId="{07F49317-54C7-461B-9820-61D1BBED914E}" type="sibTrans" cxnId="{04F7BED7-4B56-44EB-9099-29994103E9B0}">
      <dgm:prSet/>
      <dgm:spPr/>
      <dgm:t>
        <a:bodyPr/>
        <a:lstStyle/>
        <a:p>
          <a:endParaRPr lang="en-US"/>
        </a:p>
      </dgm:t>
    </dgm:pt>
    <dgm:pt modelId="{0788BAAC-2B63-42DA-BD62-8F7B069AF630}">
      <dgm:prSet phldrT="[Text]"/>
      <dgm:spPr/>
      <dgm:t>
        <a:bodyPr/>
        <a:lstStyle/>
        <a:p>
          <a:r>
            <a:rPr lang="es-MX" dirty="0" smtClean="0"/>
            <a:t>ASEGURANZA </a:t>
          </a:r>
          <a:endParaRPr lang="en-US" dirty="0"/>
        </a:p>
      </dgm:t>
    </dgm:pt>
    <dgm:pt modelId="{810A2439-D5BB-4723-B21B-DE8B0098BCA4}" type="parTrans" cxnId="{02F6C4AD-42B5-4E45-AE89-EAE60D7967C3}">
      <dgm:prSet/>
      <dgm:spPr/>
      <dgm:t>
        <a:bodyPr/>
        <a:lstStyle/>
        <a:p>
          <a:endParaRPr lang="en-US"/>
        </a:p>
      </dgm:t>
    </dgm:pt>
    <dgm:pt modelId="{1EA13AF3-4410-45CE-AD03-C15E9484831D}" type="sibTrans" cxnId="{02F6C4AD-42B5-4E45-AE89-EAE60D7967C3}">
      <dgm:prSet/>
      <dgm:spPr/>
      <dgm:t>
        <a:bodyPr/>
        <a:lstStyle/>
        <a:p>
          <a:endParaRPr lang="en-US"/>
        </a:p>
      </dgm:t>
    </dgm:pt>
    <dgm:pt modelId="{E8EC72D8-A887-4C08-8C33-6F2F84C8C1EE}">
      <dgm:prSet/>
      <dgm:spPr/>
      <dgm:t>
        <a:bodyPr/>
        <a:lstStyle/>
        <a:p>
          <a:endParaRPr lang="en-US" dirty="0"/>
        </a:p>
      </dgm:t>
    </dgm:pt>
    <dgm:pt modelId="{BCB5FA0D-7A06-4717-A1BD-78DA9117F2CF}" type="parTrans" cxnId="{DB8C510A-C7A4-4D90-A44A-B33BAD4D6A2F}">
      <dgm:prSet/>
      <dgm:spPr/>
      <dgm:t>
        <a:bodyPr/>
        <a:lstStyle/>
        <a:p>
          <a:endParaRPr lang="en-US"/>
        </a:p>
      </dgm:t>
    </dgm:pt>
    <dgm:pt modelId="{12B129F2-046D-4587-8F43-18C6F33D6355}" type="sibTrans" cxnId="{DB8C510A-C7A4-4D90-A44A-B33BAD4D6A2F}">
      <dgm:prSet/>
      <dgm:spPr/>
      <dgm:t>
        <a:bodyPr/>
        <a:lstStyle/>
        <a:p>
          <a:endParaRPr lang="en-US"/>
        </a:p>
      </dgm:t>
    </dgm:pt>
    <dgm:pt modelId="{15E7FC55-684B-47C6-8EE3-7997BEC70CA4}">
      <dgm:prSet/>
      <dgm:spPr/>
      <dgm:t>
        <a:bodyPr/>
        <a:lstStyle/>
        <a:p>
          <a:r>
            <a:rPr lang="es-MX" dirty="0" smtClean="0"/>
            <a:t>FINANCIERA</a:t>
          </a:r>
          <a:endParaRPr lang="en-US" dirty="0"/>
        </a:p>
      </dgm:t>
    </dgm:pt>
    <dgm:pt modelId="{8F8C06FB-4469-4E84-B3C7-ABDDB44F1628}" type="parTrans" cxnId="{10DAC4A6-8DFB-4100-BC35-45DAC26362B6}">
      <dgm:prSet/>
      <dgm:spPr/>
      <dgm:t>
        <a:bodyPr/>
        <a:lstStyle/>
        <a:p>
          <a:endParaRPr lang="en-US"/>
        </a:p>
      </dgm:t>
    </dgm:pt>
    <dgm:pt modelId="{EF78536C-0335-42D1-8582-9BFE326EFA7F}" type="sibTrans" cxnId="{10DAC4A6-8DFB-4100-BC35-45DAC26362B6}">
      <dgm:prSet/>
      <dgm:spPr/>
      <dgm:t>
        <a:bodyPr/>
        <a:lstStyle/>
        <a:p>
          <a:endParaRPr lang="en-US"/>
        </a:p>
      </dgm:t>
    </dgm:pt>
    <dgm:pt modelId="{D15F531F-C15C-4F8F-A2D4-F0CEF4239103}" type="pres">
      <dgm:prSet presAssocID="{0FFC814B-88A9-4FD4-8C53-FA3DA838314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7E1DCAE-DB8A-4590-9C8D-119E8D7003DD}" type="pres">
      <dgm:prSet presAssocID="{057C80B5-BC47-4EB8-85E1-0E4C6B84D51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A417AE-04F7-4793-BBF3-96FFA2242272}" type="pres">
      <dgm:prSet presAssocID="{090385AF-EEC6-46E0-848F-FB632221C9EF}" presName="sibTrans" presStyleLbl="sibTrans2D1" presStyleIdx="0" presStyleCnt="3"/>
      <dgm:spPr/>
      <dgm:t>
        <a:bodyPr/>
        <a:lstStyle/>
        <a:p>
          <a:endParaRPr lang="en-US"/>
        </a:p>
      </dgm:t>
    </dgm:pt>
    <dgm:pt modelId="{D30E5A84-74DA-4D8D-B180-3B36ACC1BE00}" type="pres">
      <dgm:prSet presAssocID="{090385AF-EEC6-46E0-848F-FB632221C9EF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EB60CB6A-A7A4-4E8A-A2BB-5A52605547C1}" type="pres">
      <dgm:prSet presAssocID="{7CB68FEE-653F-425A-9C51-653C73EC881B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34F04E-27F0-45AE-89CA-65933F781161}" type="pres">
      <dgm:prSet presAssocID="{07F49317-54C7-461B-9820-61D1BBED914E}" presName="sibTrans" presStyleLbl="sibTrans2D1" presStyleIdx="1" presStyleCnt="3"/>
      <dgm:spPr/>
      <dgm:t>
        <a:bodyPr/>
        <a:lstStyle/>
        <a:p>
          <a:endParaRPr lang="en-US"/>
        </a:p>
      </dgm:t>
    </dgm:pt>
    <dgm:pt modelId="{4137B406-122C-404F-81EC-9DFC29CEEE58}" type="pres">
      <dgm:prSet presAssocID="{07F49317-54C7-461B-9820-61D1BBED914E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8B62D8C6-10E5-4854-9E91-D9F2974EAE60}" type="pres">
      <dgm:prSet presAssocID="{0788BAAC-2B63-42DA-BD62-8F7B069AF630}" presName="node" presStyleLbl="node1" presStyleIdx="2" presStyleCnt="4" custLinFactY="55115" custLinFactNeighborX="27704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3992CE-4668-4E8D-BC82-6833A6AE05C5}" type="pres">
      <dgm:prSet presAssocID="{1EA13AF3-4410-45CE-AD03-C15E9484831D}" presName="sibTrans" presStyleLbl="sibTrans2D1" presStyleIdx="2" presStyleCnt="3" custAng="3768124" custScaleX="58988" custLinFactX="-25370" custLinFactY="-34092" custLinFactNeighborX="-100000" custLinFactNeighborY="-100000"/>
      <dgm:spPr/>
      <dgm:t>
        <a:bodyPr/>
        <a:lstStyle/>
        <a:p>
          <a:endParaRPr lang="en-US"/>
        </a:p>
      </dgm:t>
    </dgm:pt>
    <dgm:pt modelId="{718851CC-70F6-4E59-A79C-B0942C22AC51}" type="pres">
      <dgm:prSet presAssocID="{1EA13AF3-4410-45CE-AD03-C15E9484831D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B7E580DF-3385-4A51-940C-79F0340F82F2}" type="pres">
      <dgm:prSet presAssocID="{15E7FC55-684B-47C6-8EE3-7997BEC70CA4}" presName="node" presStyleLbl="node1" presStyleIdx="3" presStyleCnt="4" custLinFactX="-61005" custLinFactY="-35718" custLinFactNeighborX="-10000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0DAC4A6-8DFB-4100-BC35-45DAC26362B6}" srcId="{0FFC814B-88A9-4FD4-8C53-FA3DA838314C}" destId="{15E7FC55-684B-47C6-8EE3-7997BEC70CA4}" srcOrd="3" destOrd="0" parTransId="{8F8C06FB-4469-4E84-B3C7-ABDDB44F1628}" sibTransId="{EF78536C-0335-42D1-8582-9BFE326EFA7F}"/>
    <dgm:cxn modelId="{C93DF58B-917D-4D5D-A50B-D1E75712AB4E}" type="presOf" srcId="{057C80B5-BC47-4EB8-85E1-0E4C6B84D515}" destId="{77E1DCAE-DB8A-4590-9C8D-119E8D7003DD}" srcOrd="0" destOrd="0" presId="urn:microsoft.com/office/officeart/2005/8/layout/process1"/>
    <dgm:cxn modelId="{77D7FC5C-99F9-404C-A4E0-7D2C5D21A806}" type="presOf" srcId="{090385AF-EEC6-46E0-848F-FB632221C9EF}" destId="{D30E5A84-74DA-4D8D-B180-3B36ACC1BE00}" srcOrd="1" destOrd="0" presId="urn:microsoft.com/office/officeart/2005/8/layout/process1"/>
    <dgm:cxn modelId="{04F7BED7-4B56-44EB-9099-29994103E9B0}" srcId="{0FFC814B-88A9-4FD4-8C53-FA3DA838314C}" destId="{7CB68FEE-653F-425A-9C51-653C73EC881B}" srcOrd="1" destOrd="0" parTransId="{C906B737-7F08-4EC2-BCA2-76CD34095F78}" sibTransId="{07F49317-54C7-461B-9820-61D1BBED914E}"/>
    <dgm:cxn modelId="{02F6C4AD-42B5-4E45-AE89-EAE60D7967C3}" srcId="{0FFC814B-88A9-4FD4-8C53-FA3DA838314C}" destId="{0788BAAC-2B63-42DA-BD62-8F7B069AF630}" srcOrd="2" destOrd="0" parTransId="{810A2439-D5BB-4723-B21B-DE8B0098BCA4}" sibTransId="{1EA13AF3-4410-45CE-AD03-C15E9484831D}"/>
    <dgm:cxn modelId="{5EC17363-27BB-485B-A5DB-E65C50380AD2}" type="presOf" srcId="{07F49317-54C7-461B-9820-61D1BBED914E}" destId="{8C34F04E-27F0-45AE-89CA-65933F781161}" srcOrd="0" destOrd="0" presId="urn:microsoft.com/office/officeart/2005/8/layout/process1"/>
    <dgm:cxn modelId="{7D363EF3-9885-4773-AADE-5313AE7D07CB}" type="presOf" srcId="{15E7FC55-684B-47C6-8EE3-7997BEC70CA4}" destId="{B7E580DF-3385-4A51-940C-79F0340F82F2}" srcOrd="0" destOrd="0" presId="urn:microsoft.com/office/officeart/2005/8/layout/process1"/>
    <dgm:cxn modelId="{EF90E50C-4FD9-43BF-B185-546B7F903BB4}" type="presOf" srcId="{7CB68FEE-653F-425A-9C51-653C73EC881B}" destId="{EB60CB6A-A7A4-4E8A-A2BB-5A52605547C1}" srcOrd="0" destOrd="0" presId="urn:microsoft.com/office/officeart/2005/8/layout/process1"/>
    <dgm:cxn modelId="{4738BF6A-08D6-4CC4-9D81-BAC621C52054}" type="presOf" srcId="{090385AF-EEC6-46E0-848F-FB632221C9EF}" destId="{F9A417AE-04F7-4793-BBF3-96FFA2242272}" srcOrd="0" destOrd="0" presId="urn:microsoft.com/office/officeart/2005/8/layout/process1"/>
    <dgm:cxn modelId="{6ACC6A0E-D01F-4533-9090-A12F38618447}" type="presOf" srcId="{0788BAAC-2B63-42DA-BD62-8F7B069AF630}" destId="{8B62D8C6-10E5-4854-9E91-D9F2974EAE60}" srcOrd="0" destOrd="0" presId="urn:microsoft.com/office/officeart/2005/8/layout/process1"/>
    <dgm:cxn modelId="{D365BCB8-1119-42C6-B443-783CFBB1D195}" type="presOf" srcId="{E8EC72D8-A887-4C08-8C33-6F2F84C8C1EE}" destId="{8B62D8C6-10E5-4854-9E91-D9F2974EAE60}" srcOrd="0" destOrd="1" presId="urn:microsoft.com/office/officeart/2005/8/layout/process1"/>
    <dgm:cxn modelId="{CE79699C-2D40-4D8F-9792-BE9F1FCA8ACD}" type="presOf" srcId="{0FFC814B-88A9-4FD4-8C53-FA3DA838314C}" destId="{D15F531F-C15C-4F8F-A2D4-F0CEF4239103}" srcOrd="0" destOrd="0" presId="urn:microsoft.com/office/officeart/2005/8/layout/process1"/>
    <dgm:cxn modelId="{DB8C510A-C7A4-4D90-A44A-B33BAD4D6A2F}" srcId="{0788BAAC-2B63-42DA-BD62-8F7B069AF630}" destId="{E8EC72D8-A887-4C08-8C33-6F2F84C8C1EE}" srcOrd="0" destOrd="0" parTransId="{BCB5FA0D-7A06-4717-A1BD-78DA9117F2CF}" sibTransId="{12B129F2-046D-4587-8F43-18C6F33D6355}"/>
    <dgm:cxn modelId="{10ED103D-4596-4524-B96B-5E892A8100E6}" type="presOf" srcId="{07F49317-54C7-461B-9820-61D1BBED914E}" destId="{4137B406-122C-404F-81EC-9DFC29CEEE58}" srcOrd="1" destOrd="0" presId="urn:microsoft.com/office/officeart/2005/8/layout/process1"/>
    <dgm:cxn modelId="{0981CE59-6583-46A7-8F89-632BD6A78C1D}" srcId="{0FFC814B-88A9-4FD4-8C53-FA3DA838314C}" destId="{057C80B5-BC47-4EB8-85E1-0E4C6B84D515}" srcOrd="0" destOrd="0" parTransId="{364FB577-BD1B-450F-B241-D720ED2B90F6}" sibTransId="{090385AF-EEC6-46E0-848F-FB632221C9EF}"/>
    <dgm:cxn modelId="{3933793B-1BCB-4997-B020-2152D3E73E83}" type="presOf" srcId="{1EA13AF3-4410-45CE-AD03-C15E9484831D}" destId="{293992CE-4668-4E8D-BC82-6833A6AE05C5}" srcOrd="0" destOrd="0" presId="urn:microsoft.com/office/officeart/2005/8/layout/process1"/>
    <dgm:cxn modelId="{642104C6-3AFA-49FC-AAC9-45F16A785C36}" type="presOf" srcId="{1EA13AF3-4410-45CE-AD03-C15E9484831D}" destId="{718851CC-70F6-4E59-A79C-B0942C22AC51}" srcOrd="1" destOrd="0" presId="urn:microsoft.com/office/officeart/2005/8/layout/process1"/>
    <dgm:cxn modelId="{479DF3FA-80C4-43B7-BDB9-0426D70254DA}" type="presParOf" srcId="{D15F531F-C15C-4F8F-A2D4-F0CEF4239103}" destId="{77E1DCAE-DB8A-4590-9C8D-119E8D7003DD}" srcOrd="0" destOrd="0" presId="urn:microsoft.com/office/officeart/2005/8/layout/process1"/>
    <dgm:cxn modelId="{C2A4CC50-2BD4-48C8-A71D-C9884136F9D3}" type="presParOf" srcId="{D15F531F-C15C-4F8F-A2D4-F0CEF4239103}" destId="{F9A417AE-04F7-4793-BBF3-96FFA2242272}" srcOrd="1" destOrd="0" presId="urn:microsoft.com/office/officeart/2005/8/layout/process1"/>
    <dgm:cxn modelId="{79E9C43F-B2F3-4268-973A-FBFC38A37BE7}" type="presParOf" srcId="{F9A417AE-04F7-4793-BBF3-96FFA2242272}" destId="{D30E5A84-74DA-4D8D-B180-3B36ACC1BE00}" srcOrd="0" destOrd="0" presId="urn:microsoft.com/office/officeart/2005/8/layout/process1"/>
    <dgm:cxn modelId="{26A2ADC6-A71C-4017-9894-8DB22E0A1C95}" type="presParOf" srcId="{D15F531F-C15C-4F8F-A2D4-F0CEF4239103}" destId="{EB60CB6A-A7A4-4E8A-A2BB-5A52605547C1}" srcOrd="2" destOrd="0" presId="urn:microsoft.com/office/officeart/2005/8/layout/process1"/>
    <dgm:cxn modelId="{D895F358-CD36-4DFD-B98E-5DE46D03C2D8}" type="presParOf" srcId="{D15F531F-C15C-4F8F-A2D4-F0CEF4239103}" destId="{8C34F04E-27F0-45AE-89CA-65933F781161}" srcOrd="3" destOrd="0" presId="urn:microsoft.com/office/officeart/2005/8/layout/process1"/>
    <dgm:cxn modelId="{311D8005-FC97-407F-BE80-C0690FFBA22E}" type="presParOf" srcId="{8C34F04E-27F0-45AE-89CA-65933F781161}" destId="{4137B406-122C-404F-81EC-9DFC29CEEE58}" srcOrd="0" destOrd="0" presId="urn:microsoft.com/office/officeart/2005/8/layout/process1"/>
    <dgm:cxn modelId="{EF0858BB-B59C-40D9-B16D-A4417A921211}" type="presParOf" srcId="{D15F531F-C15C-4F8F-A2D4-F0CEF4239103}" destId="{8B62D8C6-10E5-4854-9E91-D9F2974EAE60}" srcOrd="4" destOrd="0" presId="urn:microsoft.com/office/officeart/2005/8/layout/process1"/>
    <dgm:cxn modelId="{F1B3A250-5599-4F5C-B290-24555E97687D}" type="presParOf" srcId="{D15F531F-C15C-4F8F-A2D4-F0CEF4239103}" destId="{293992CE-4668-4E8D-BC82-6833A6AE05C5}" srcOrd="5" destOrd="0" presId="urn:microsoft.com/office/officeart/2005/8/layout/process1"/>
    <dgm:cxn modelId="{0739DB55-7E05-44DE-B852-5CBE8825B487}" type="presParOf" srcId="{293992CE-4668-4E8D-BC82-6833A6AE05C5}" destId="{718851CC-70F6-4E59-A79C-B0942C22AC51}" srcOrd="0" destOrd="0" presId="urn:microsoft.com/office/officeart/2005/8/layout/process1"/>
    <dgm:cxn modelId="{78633321-F473-423C-BC0D-5869035430A1}" type="presParOf" srcId="{D15F531F-C15C-4F8F-A2D4-F0CEF4239103}" destId="{B7E580DF-3385-4A51-940C-79F0340F82F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1DCAE-DB8A-4590-9C8D-119E8D7003DD}">
      <dsp:nvSpPr>
        <dsp:cNvPr id="0" name=""/>
        <dsp:cNvSpPr/>
      </dsp:nvSpPr>
      <dsp:spPr>
        <a:xfrm>
          <a:off x="4362" y="1998311"/>
          <a:ext cx="1907229" cy="1144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500" kern="1200" dirty="0" smtClean="0"/>
            <a:t>CLIENTE </a:t>
          </a:r>
          <a:endParaRPr lang="en-US" sz="2500" kern="1200" dirty="0"/>
        </a:p>
      </dsp:txBody>
      <dsp:txXfrm>
        <a:off x="37878" y="2031827"/>
        <a:ext cx="1840197" cy="1077305"/>
      </dsp:txXfrm>
    </dsp:sp>
    <dsp:sp modelId="{F9A417AE-04F7-4793-BBF3-96FFA2242272}">
      <dsp:nvSpPr>
        <dsp:cNvPr id="0" name=""/>
        <dsp:cNvSpPr/>
      </dsp:nvSpPr>
      <dsp:spPr>
        <a:xfrm>
          <a:off x="2102315" y="2333983"/>
          <a:ext cx="404332" cy="4729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/>
        </a:p>
      </dsp:txBody>
      <dsp:txXfrm>
        <a:off x="2102315" y="2428582"/>
        <a:ext cx="283032" cy="283795"/>
      </dsp:txXfrm>
    </dsp:sp>
    <dsp:sp modelId="{EB60CB6A-A7A4-4E8A-A2BB-5A52605547C1}">
      <dsp:nvSpPr>
        <dsp:cNvPr id="0" name=""/>
        <dsp:cNvSpPr/>
      </dsp:nvSpPr>
      <dsp:spPr>
        <a:xfrm>
          <a:off x="2674484" y="1998311"/>
          <a:ext cx="1907229" cy="1144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500" kern="1200" dirty="0" smtClean="0"/>
            <a:t>AGENCIA </a:t>
          </a:r>
          <a:endParaRPr lang="en-US" sz="2500" kern="1200" dirty="0"/>
        </a:p>
      </dsp:txBody>
      <dsp:txXfrm>
        <a:off x="2708000" y="2031827"/>
        <a:ext cx="1840197" cy="1077305"/>
      </dsp:txXfrm>
    </dsp:sp>
    <dsp:sp modelId="{8C34F04E-27F0-45AE-89CA-65933F781161}">
      <dsp:nvSpPr>
        <dsp:cNvPr id="0" name=""/>
        <dsp:cNvSpPr/>
      </dsp:nvSpPr>
      <dsp:spPr>
        <a:xfrm rot="1822545">
          <a:off x="4814735" y="3231360"/>
          <a:ext cx="688779" cy="4729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/>
        </a:p>
      </dsp:txBody>
      <dsp:txXfrm>
        <a:off x="4824474" y="3290082"/>
        <a:ext cx="546881" cy="283795"/>
      </dsp:txXfrm>
    </dsp:sp>
    <dsp:sp modelId="{8B62D8C6-10E5-4854-9E91-D9F2974EAE60}">
      <dsp:nvSpPr>
        <dsp:cNvPr id="0" name=""/>
        <dsp:cNvSpPr/>
      </dsp:nvSpPr>
      <dsp:spPr>
        <a:xfrm>
          <a:off x="5702901" y="3773350"/>
          <a:ext cx="1907229" cy="1144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500" kern="1200" dirty="0" smtClean="0"/>
            <a:t>ASEGURANZA </a:t>
          </a:r>
          <a:endParaRPr lang="en-US" sz="25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000" kern="1200" dirty="0"/>
        </a:p>
      </dsp:txBody>
      <dsp:txXfrm>
        <a:off x="5736417" y="3806866"/>
        <a:ext cx="1840197" cy="1077305"/>
      </dsp:txXfrm>
    </dsp:sp>
    <dsp:sp modelId="{293992CE-4668-4E8D-BC82-6833A6AE05C5}">
      <dsp:nvSpPr>
        <dsp:cNvPr id="0" name=""/>
        <dsp:cNvSpPr/>
      </dsp:nvSpPr>
      <dsp:spPr>
        <a:xfrm rot="19818463">
          <a:off x="4788503" y="1777964"/>
          <a:ext cx="683374" cy="4729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/>
        </a:p>
      </dsp:txBody>
      <dsp:txXfrm rot="10800000">
        <a:off x="4797819" y="1907707"/>
        <a:ext cx="541476" cy="283795"/>
      </dsp:txXfrm>
    </dsp:sp>
    <dsp:sp modelId="{B7E580DF-3385-4A51-940C-79F0340F82F2}">
      <dsp:nvSpPr>
        <dsp:cNvPr id="0" name=""/>
        <dsp:cNvSpPr/>
      </dsp:nvSpPr>
      <dsp:spPr>
        <a:xfrm>
          <a:off x="5557921" y="445238"/>
          <a:ext cx="1907229" cy="1144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500" kern="1200" dirty="0" smtClean="0"/>
            <a:t>FINANCIERA</a:t>
          </a:r>
          <a:endParaRPr lang="en-US" sz="2500" kern="1200" dirty="0"/>
        </a:p>
      </dsp:txBody>
      <dsp:txXfrm>
        <a:off x="5591437" y="478754"/>
        <a:ext cx="1840197" cy="1077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80021-A903-42D4-B4C6-CA7F477BA4D1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D0143-6B58-4E03-9930-1DE3E901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4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1236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6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22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9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8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7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7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70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49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9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67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0035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4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103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25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50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25231906-9A55-4971-85BB-879A9EA0E2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5AEC9DAB-AE8A-4A8B-8A43-3D3C2348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24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pp.ipfs.com/logi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bs.first-quotes.com/entitylogin.aspx?portfolio=900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etifinance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apfcinc.com/Agents.as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pbsnetaccess.com/EntityLogin.aspx?portfolio=108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618143" y="4287520"/>
            <a:ext cx="22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 </a:t>
            </a:r>
            <a:endParaRPr lang="en-US" dirty="0"/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1877455672"/>
              </p:ext>
            </p:extLst>
          </p:nvPr>
        </p:nvGraphicFramePr>
        <p:xfrm>
          <a:off x="1991360" y="426721"/>
          <a:ext cx="9926320" cy="5140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ight Arrow 5"/>
          <p:cNvSpPr/>
          <p:nvPr/>
        </p:nvSpPr>
        <p:spPr>
          <a:xfrm rot="8665952">
            <a:off x="5902959" y="1391920"/>
            <a:ext cx="1595120" cy="690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3533233">
            <a:off x="5826553" y="4126745"/>
            <a:ext cx="1595120" cy="690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61" y="218440"/>
            <a:ext cx="10396882" cy="1151965"/>
          </a:xfrm>
        </p:spPr>
        <p:txBody>
          <a:bodyPr/>
          <a:lstStyle/>
          <a:p>
            <a:r>
              <a:rPr lang="es-MX" dirty="0" smtClean="0"/>
              <a:t>Agencias 	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65772" y="1767840"/>
            <a:ext cx="8915400" cy="4307840"/>
          </a:xfrm>
        </p:spPr>
        <p:txBody>
          <a:bodyPr/>
          <a:lstStyle/>
          <a:p>
            <a:r>
              <a:rPr lang="es-MX" dirty="0" smtClean="0"/>
              <a:t>JLP INSURANCE – la mayoría de las veces usamos el </a:t>
            </a:r>
            <a:r>
              <a:rPr lang="es-MX" dirty="0" err="1" smtClean="0"/>
              <a:t>mga</a:t>
            </a:r>
            <a:r>
              <a:rPr lang="es-MX" dirty="0" smtClean="0"/>
              <a:t> de ellos como </a:t>
            </a:r>
            <a:r>
              <a:rPr lang="es-MX" dirty="0" err="1" smtClean="0"/>
              <a:t>nta</a:t>
            </a:r>
            <a:r>
              <a:rPr lang="es-MX" dirty="0"/>
              <a:t> </a:t>
            </a:r>
            <a:r>
              <a:rPr lang="es-MX" dirty="0" err="1" smtClean="0"/>
              <a:t>etc</a:t>
            </a:r>
            <a:r>
              <a:rPr lang="es-MX" dirty="0" smtClean="0"/>
              <a:t> </a:t>
            </a:r>
          </a:p>
          <a:p>
            <a:r>
              <a:rPr lang="es-MX" dirty="0" smtClean="0"/>
              <a:t>AJM INSURANCE- es la agencia nuestra</a:t>
            </a:r>
          </a:p>
          <a:p>
            <a:r>
              <a:rPr lang="es-MX" dirty="0" smtClean="0"/>
              <a:t>GREENLAND – </a:t>
            </a:r>
            <a:r>
              <a:rPr lang="es-MX" dirty="0"/>
              <a:t>la mayoría de las veces usamos el </a:t>
            </a:r>
            <a:r>
              <a:rPr lang="es-MX" dirty="0" err="1"/>
              <a:t>mga</a:t>
            </a:r>
            <a:r>
              <a:rPr lang="es-MX" dirty="0"/>
              <a:t> de ellos como </a:t>
            </a:r>
            <a:r>
              <a:rPr lang="es-MX" dirty="0" smtClean="0"/>
              <a:t>brazos,  </a:t>
            </a:r>
            <a:r>
              <a:rPr lang="es-MX" dirty="0" err="1"/>
              <a:t>etc</a:t>
            </a:r>
            <a:r>
              <a:rPr lang="es-MX" dirty="0"/>
              <a:t> </a:t>
            </a:r>
            <a:r>
              <a:rPr lang="es-MX" dirty="0" smtClean="0"/>
              <a:t>- aparte ellos venden por medio de  nosotros en </a:t>
            </a:r>
            <a:r>
              <a:rPr lang="es-MX" dirty="0" err="1" smtClean="0"/>
              <a:t>progressive</a:t>
            </a:r>
            <a:endParaRPr lang="es-MX" dirty="0"/>
          </a:p>
          <a:p>
            <a:r>
              <a:rPr lang="es-MX" dirty="0" smtClean="0"/>
              <a:t>VL17- la mayoría de las veces ellos usan nuestros </a:t>
            </a:r>
            <a:r>
              <a:rPr lang="es-MX" dirty="0" err="1" smtClean="0"/>
              <a:t>mga</a:t>
            </a:r>
            <a:r>
              <a:rPr lang="es-MX" dirty="0" smtClean="0"/>
              <a:t> </a:t>
            </a:r>
          </a:p>
          <a:p>
            <a:r>
              <a:rPr lang="es-MX" dirty="0" smtClean="0"/>
              <a:t>FIRTS SENTINEL-la </a:t>
            </a:r>
            <a:r>
              <a:rPr lang="es-MX" dirty="0"/>
              <a:t>mayoría de las veces ellos usan nuestros </a:t>
            </a:r>
            <a:r>
              <a:rPr lang="es-MX" dirty="0" err="1"/>
              <a:t>mga</a:t>
            </a:r>
            <a:r>
              <a:rPr lang="es-MX" dirty="0"/>
              <a:t> </a:t>
            </a:r>
          </a:p>
          <a:p>
            <a:pPr marL="0" indent="0">
              <a:buNone/>
            </a:pPr>
            <a:endParaRPr lang="es-MX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80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 smtClean="0"/>
              <a:t>Mgas</a:t>
            </a:r>
            <a:r>
              <a:rPr lang="es-MX" dirty="0" smtClean="0"/>
              <a:t>	 vs </a:t>
            </a:r>
            <a:r>
              <a:rPr lang="es-MX" dirty="0" err="1" smtClean="0"/>
              <a:t>carriers</a:t>
            </a:r>
            <a:r>
              <a:rPr lang="es-MX" dirty="0" smtClean="0"/>
              <a:t> 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Distribuidor vs producto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264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1561" y="109817"/>
            <a:ext cx="2524759" cy="1151965"/>
          </a:xfrm>
        </p:spPr>
        <p:txBody>
          <a:bodyPr/>
          <a:lstStyle/>
          <a:p>
            <a:r>
              <a:rPr lang="es-MX" dirty="0" smtClean="0"/>
              <a:t>MGAS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36880" y="1261782"/>
            <a:ext cx="9746932" cy="4277360"/>
          </a:xfrm>
        </p:spPr>
        <p:txBody>
          <a:bodyPr numCol="3">
            <a:normAutofit fontScale="62500" lnSpcReduction="20000"/>
          </a:bodyPr>
          <a:lstStyle/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 err="1">
                <a:latin typeface="Arial Narrow" panose="020B0606020202030204" pitchFamily="34" charset="0"/>
              </a:rPr>
              <a:t>Rocklake</a:t>
            </a:r>
            <a:r>
              <a:rPr lang="en-US" dirty="0">
                <a:latin typeface="Arial Narrow" panose="020B0606020202030204" pitchFamily="34" charset="0"/>
              </a:rPr>
              <a:t>	</a:t>
            </a:r>
            <a:r>
              <a:rPr lang="en-US" dirty="0" smtClean="0">
                <a:latin typeface="Arial Narrow" panose="020B0606020202030204" pitchFamily="34" charset="0"/>
              </a:rPr>
              <a:t>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LP Risk	</a:t>
            </a:r>
            <a:r>
              <a:rPr lang="en-US" dirty="0" smtClean="0">
                <a:latin typeface="Arial Narrow" panose="020B0606020202030204" pitchFamily="34" charset="0"/>
              </a:rPr>
              <a:t> AJM-JLP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 err="1">
                <a:latin typeface="Arial Narrow" panose="020B0606020202030204" pitchFamily="34" charset="0"/>
              </a:rPr>
              <a:t>Amwins</a:t>
            </a:r>
            <a:r>
              <a:rPr lang="en-US" dirty="0">
                <a:latin typeface="Arial Narrow" panose="020B0606020202030204" pitchFamily="34" charset="0"/>
              </a:rPr>
              <a:t>	</a:t>
            </a:r>
            <a:r>
              <a:rPr lang="en-US" dirty="0" smtClean="0">
                <a:latin typeface="Arial Narrow" panose="020B0606020202030204" pitchFamily="34" charset="0"/>
              </a:rPr>
              <a:t> AJM-JLP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 smtClean="0">
                <a:latin typeface="Arial Narrow" panose="020B0606020202030204" pitchFamily="34" charset="0"/>
              </a:rPr>
              <a:t>Paramount-AJM-JLP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QEO	</a:t>
            </a:r>
            <a:r>
              <a:rPr lang="en-US" dirty="0" smtClean="0">
                <a:latin typeface="Arial Narrow" panose="020B0606020202030204" pitchFamily="34" charset="0"/>
              </a:rPr>
              <a:t>          AJM </a:t>
            </a:r>
            <a:r>
              <a:rPr lang="en-US" dirty="0">
                <a:latin typeface="Arial Narrow" panose="020B0606020202030204" pitchFamily="34" charset="0"/>
              </a:rPr>
              <a:t>/JLP</a:t>
            </a:r>
          </a:p>
          <a:p>
            <a:r>
              <a:rPr lang="en-US" dirty="0">
                <a:latin typeface="Arial Narrow" panose="020B0606020202030204" pitchFamily="34" charset="0"/>
              </a:rPr>
              <a:t>BASS	</a:t>
            </a:r>
            <a:r>
              <a:rPr lang="en-US" dirty="0" smtClean="0">
                <a:latin typeface="Arial Narrow" panose="020B0606020202030204" pitchFamily="34" charset="0"/>
              </a:rPr>
              <a:t>          AJM-JLP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 smtClean="0">
                <a:latin typeface="Arial Narrow" panose="020B0606020202030204" pitchFamily="34" charset="0"/>
              </a:rPr>
              <a:t>Brecht        </a:t>
            </a:r>
            <a:r>
              <a:rPr lang="en-US" dirty="0">
                <a:latin typeface="Arial Narrow" panose="020B0606020202030204" pitchFamily="34" charset="0"/>
              </a:rPr>
              <a:t>	AJM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Brooklyn</a:t>
            </a:r>
            <a:r>
              <a:rPr lang="en-US" dirty="0">
                <a:latin typeface="Arial Narrow" panose="020B0606020202030204" pitchFamily="34" charset="0"/>
              </a:rPr>
              <a:t>	AJM</a:t>
            </a:r>
          </a:p>
          <a:p>
            <a:r>
              <a:rPr lang="en-US" dirty="0">
                <a:latin typeface="Arial Narrow" panose="020B0606020202030204" pitchFamily="34" charset="0"/>
              </a:rPr>
              <a:t>One80	AJM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NTA</a:t>
            </a:r>
            <a:r>
              <a:rPr lang="en-US" dirty="0">
                <a:latin typeface="Arial Narrow" panose="020B0606020202030204" pitchFamily="34" charset="0"/>
              </a:rPr>
              <a:t>	</a:t>
            </a:r>
            <a:r>
              <a:rPr lang="en-US" dirty="0" smtClean="0">
                <a:latin typeface="Arial Narrow" panose="020B0606020202030204" pitchFamily="34" charset="0"/>
              </a:rPr>
              <a:t>         JLP </a:t>
            </a:r>
            <a:r>
              <a:rPr lang="en-US" dirty="0">
                <a:latin typeface="Arial Narrow" panose="020B0606020202030204" pitchFamily="34" charset="0"/>
              </a:rPr>
              <a:t>Agency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TREATY</a:t>
            </a:r>
            <a:r>
              <a:rPr lang="en-US" dirty="0">
                <a:latin typeface="Arial Narrow" panose="020B0606020202030204" pitchFamily="34" charset="0"/>
              </a:rPr>
              <a:t>	AJM</a:t>
            </a:r>
          </a:p>
          <a:p>
            <a:r>
              <a:rPr lang="en-US" dirty="0">
                <a:latin typeface="Arial Narrow" panose="020B0606020202030204" pitchFamily="34" charset="0"/>
              </a:rPr>
              <a:t>SGA </a:t>
            </a:r>
            <a:r>
              <a:rPr lang="en-US" dirty="0" smtClean="0">
                <a:latin typeface="Arial Narrow" panose="020B0606020202030204" pitchFamily="34" charset="0"/>
              </a:rPr>
              <a:t>         </a:t>
            </a:r>
            <a:r>
              <a:rPr lang="en-US" dirty="0">
                <a:latin typeface="Arial Narrow" panose="020B0606020202030204" pitchFamily="34" charset="0"/>
              </a:rPr>
              <a:t>	AJM</a:t>
            </a:r>
          </a:p>
          <a:p>
            <a:r>
              <a:rPr lang="en-US" dirty="0">
                <a:latin typeface="Arial Narrow" panose="020B0606020202030204" pitchFamily="34" charset="0"/>
              </a:rPr>
              <a:t>Texas Specialty	AJM</a:t>
            </a:r>
          </a:p>
          <a:p>
            <a:r>
              <a:rPr lang="en-US" dirty="0">
                <a:latin typeface="Arial Narrow" panose="020B0606020202030204" pitchFamily="34" charset="0"/>
              </a:rPr>
              <a:t>Tip National	AJM</a:t>
            </a:r>
          </a:p>
          <a:p>
            <a:r>
              <a:rPr lang="en-US" dirty="0">
                <a:latin typeface="Arial Narrow" panose="020B0606020202030204" pitchFamily="34" charset="0"/>
              </a:rPr>
              <a:t>Brazos	</a:t>
            </a:r>
            <a:r>
              <a:rPr lang="en-US" dirty="0" smtClean="0">
                <a:latin typeface="Arial Narrow" panose="020B0606020202030204" pitchFamily="34" charset="0"/>
              </a:rPr>
              <a:t>         </a:t>
            </a:r>
            <a:r>
              <a:rPr lang="en-US" dirty="0">
                <a:latin typeface="Arial Narrow" panose="020B0606020202030204" pitchFamily="34" charset="0"/>
              </a:rPr>
              <a:t>G</a:t>
            </a:r>
            <a:r>
              <a:rPr lang="en-US" dirty="0" smtClean="0">
                <a:latin typeface="Arial Narrow" panose="020B0606020202030204" pitchFamily="34" charset="0"/>
              </a:rPr>
              <a:t>reenland 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GSIAY</a:t>
            </a:r>
            <a:r>
              <a:rPr lang="en-US" dirty="0">
                <a:latin typeface="Arial Narrow" panose="020B0606020202030204" pitchFamily="34" charset="0"/>
              </a:rPr>
              <a:t>	</a:t>
            </a:r>
            <a:r>
              <a:rPr lang="en-US" dirty="0" smtClean="0">
                <a:latin typeface="Arial Narrow" panose="020B0606020202030204" pitchFamily="34" charset="0"/>
              </a:rPr>
              <a:t>         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TIE	</a:t>
            </a:r>
            <a:r>
              <a:rPr lang="en-US" dirty="0" smtClean="0">
                <a:latin typeface="Arial Narrow" panose="020B0606020202030204" pitchFamily="34" charset="0"/>
              </a:rPr>
              <a:t>         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BHHC	</a:t>
            </a:r>
            <a:r>
              <a:rPr lang="en-US" dirty="0" smtClean="0">
                <a:latin typeface="Arial Narrow" panose="020B0606020202030204" pitchFamily="34" charset="0"/>
              </a:rPr>
              <a:t>          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great west	</a:t>
            </a:r>
            <a:r>
              <a:rPr lang="en-US" dirty="0" smtClean="0">
                <a:latin typeface="Arial Narrow" panose="020B0606020202030204" pitchFamily="34" charset="0"/>
              </a:rPr>
              <a:t>          VL-17-AJM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progressive	AJM</a:t>
            </a:r>
          </a:p>
          <a:p>
            <a:r>
              <a:rPr lang="en-US" sz="1300" dirty="0">
                <a:latin typeface="Arial Narrow" panose="020B0606020202030204" pitchFamily="34" charset="0"/>
              </a:rPr>
              <a:t>prime </a:t>
            </a:r>
            <a:r>
              <a:rPr lang="en-US" sz="1300" dirty="0" err="1">
                <a:latin typeface="Arial Narrow" panose="020B0606020202030204" pitchFamily="34" charset="0"/>
              </a:rPr>
              <a:t>por</a:t>
            </a:r>
            <a:r>
              <a:rPr lang="en-US" sz="1300" dirty="0">
                <a:latin typeface="Arial Narrow" panose="020B0606020202030204" pitchFamily="34" charset="0"/>
              </a:rPr>
              <a:t> </a:t>
            </a:r>
            <a:r>
              <a:rPr lang="en-US" sz="1300" dirty="0" smtClean="0">
                <a:latin typeface="Arial Narrow" panose="020B0606020202030204" pitchFamily="34" charset="0"/>
              </a:rPr>
              <a:t>- TIE</a:t>
            </a:r>
            <a:r>
              <a:rPr lang="en-US" dirty="0">
                <a:latin typeface="Arial Narrow" panose="020B0606020202030204" pitchFamily="34" charset="0"/>
              </a:rPr>
              <a:t>	</a:t>
            </a:r>
            <a:r>
              <a:rPr lang="en-US" dirty="0" smtClean="0">
                <a:latin typeface="Arial Narrow" panose="020B0606020202030204" pitchFamily="34" charset="0"/>
              </a:rPr>
              <a:t>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Southwest Risk	AJM</a:t>
            </a:r>
          </a:p>
          <a:p>
            <a:r>
              <a:rPr lang="en-US" dirty="0">
                <a:latin typeface="Arial Narrow" panose="020B0606020202030204" pitchFamily="34" charset="0"/>
              </a:rPr>
              <a:t>Trinity </a:t>
            </a:r>
            <a:r>
              <a:rPr lang="en-US" dirty="0" smtClean="0">
                <a:latin typeface="Arial Narrow" panose="020B0606020202030204" pitchFamily="34" charset="0"/>
              </a:rPr>
              <a:t>         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TUMI	</a:t>
            </a:r>
            <a:r>
              <a:rPr lang="en-US" dirty="0" smtClean="0">
                <a:latin typeface="Arial Narrow" panose="020B0606020202030204" pitchFamily="34" charset="0"/>
              </a:rPr>
              <a:t>        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Universal </a:t>
            </a:r>
            <a:r>
              <a:rPr lang="en-US" dirty="0" smtClean="0">
                <a:latin typeface="Arial Narrow" panose="020B0606020202030204" pitchFamily="34" charset="0"/>
              </a:rPr>
              <a:t>   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Texas Mutual	AJM</a:t>
            </a:r>
          </a:p>
          <a:p>
            <a:r>
              <a:rPr lang="en-US" dirty="0">
                <a:latin typeface="Arial Narrow" panose="020B0606020202030204" pitchFamily="34" charset="0"/>
              </a:rPr>
              <a:t>Appalachian	AJM</a:t>
            </a:r>
          </a:p>
          <a:p>
            <a:r>
              <a:rPr lang="en-US" dirty="0">
                <a:latin typeface="Arial Narrow" panose="020B0606020202030204" pitchFamily="34" charset="0"/>
              </a:rPr>
              <a:t>JM Wilson	</a:t>
            </a:r>
            <a:r>
              <a:rPr lang="en-US" dirty="0" smtClean="0">
                <a:latin typeface="Arial Narrow" panose="020B0606020202030204" pitchFamily="34" charset="0"/>
              </a:rPr>
              <a:t>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Star Mutual	AJM</a:t>
            </a:r>
          </a:p>
          <a:p>
            <a:r>
              <a:rPr lang="en-US" dirty="0">
                <a:latin typeface="Arial Narrow" panose="020B0606020202030204" pitchFamily="34" charset="0"/>
              </a:rPr>
              <a:t>5 Star	</a:t>
            </a:r>
            <a:r>
              <a:rPr lang="en-US" dirty="0" smtClean="0">
                <a:latin typeface="Arial Narrow" panose="020B0606020202030204" pitchFamily="34" charset="0"/>
              </a:rPr>
              <a:t>         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County Hall	</a:t>
            </a:r>
            <a:r>
              <a:rPr lang="en-US" dirty="0" smtClean="0">
                <a:latin typeface="Arial Narrow" panose="020B0606020202030204" pitchFamily="34" charset="0"/>
              </a:rPr>
              <a:t>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 err="1">
                <a:latin typeface="Arial Narrow" panose="020B0606020202030204" pitchFamily="34" charset="0"/>
              </a:rPr>
              <a:t>Profesional</a:t>
            </a:r>
            <a:r>
              <a:rPr lang="en-US" dirty="0">
                <a:latin typeface="Arial Narrow" panose="020B0606020202030204" pitchFamily="34" charset="0"/>
              </a:rPr>
              <a:t>	</a:t>
            </a:r>
            <a:r>
              <a:rPr lang="en-US" dirty="0" smtClean="0">
                <a:latin typeface="Arial Narrow" panose="020B0606020202030204" pitchFamily="34" charset="0"/>
              </a:rPr>
              <a:t>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MTM	</a:t>
            </a:r>
            <a:r>
              <a:rPr lang="en-US" dirty="0" smtClean="0">
                <a:latin typeface="Arial Narrow" panose="020B0606020202030204" pitchFamily="34" charset="0"/>
              </a:rPr>
              <a:t>        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Timber </a:t>
            </a:r>
            <a:r>
              <a:rPr lang="en-US" dirty="0" smtClean="0">
                <a:latin typeface="Arial Narrow" panose="020B0606020202030204" pitchFamily="34" charset="0"/>
              </a:rPr>
              <a:t>creek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Dynamic	</a:t>
            </a:r>
            <a:r>
              <a:rPr lang="en-US" dirty="0" smtClean="0">
                <a:latin typeface="Arial Narrow" panose="020B0606020202030204" pitchFamily="34" charset="0"/>
              </a:rPr>
              <a:t>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CRC	</a:t>
            </a:r>
            <a:r>
              <a:rPr lang="en-US" dirty="0" smtClean="0">
                <a:latin typeface="Arial Narrow" panose="020B0606020202030204" pitchFamily="34" charset="0"/>
              </a:rPr>
              <a:t>                 AJM</a:t>
            </a:r>
            <a:endParaRPr lang="en-US" dirty="0">
              <a:latin typeface="Arial Narrow" panose="020B0606020202030204" pitchFamily="34" charset="0"/>
            </a:endParaRPr>
          </a:p>
          <a:p>
            <a:r>
              <a:rPr lang="es-MX" dirty="0" err="1" smtClean="0">
                <a:latin typeface="Arial Narrow" panose="020B0606020202030204" pitchFamily="34" charset="0"/>
              </a:rPr>
              <a:t>Geico</a:t>
            </a:r>
            <a:r>
              <a:rPr lang="es-MX" dirty="0" smtClean="0">
                <a:latin typeface="Arial Narrow" panose="020B0606020202030204" pitchFamily="34" charset="0"/>
              </a:rPr>
              <a:t>                 AJM</a:t>
            </a:r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18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MGA QUE USAN SU PROPIA FINANCIERA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4164684"/>
          </a:xfrm>
        </p:spPr>
        <p:txBody>
          <a:bodyPr>
            <a:normAutofit fontScale="47500" lnSpcReduction="20000"/>
          </a:bodyPr>
          <a:lstStyle/>
          <a:p>
            <a:r>
              <a:rPr lang="en-US" sz="3000" dirty="0" smtClean="0">
                <a:latin typeface="Bahnschrift Condensed" panose="020B0502040204020203" pitchFamily="34" charset="0"/>
              </a:rPr>
              <a:t>Paramount IPFS or Agile INTERNAMENTE</a:t>
            </a:r>
          </a:p>
          <a:p>
            <a:r>
              <a:rPr lang="es-MX" sz="3000" dirty="0" err="1" smtClean="0">
                <a:latin typeface="Bahnschrift Condensed" panose="020B0502040204020203" pitchFamily="34" charset="0"/>
              </a:rPr>
              <a:t>Treaty</a:t>
            </a:r>
            <a:r>
              <a:rPr lang="es-MX" sz="3000" dirty="0" smtClean="0">
                <a:latin typeface="Bahnschrift Condensed" panose="020B0502040204020203" pitchFamily="34" charset="0"/>
              </a:rPr>
              <a:t> por IPFS, INTERNAMENTE</a:t>
            </a:r>
          </a:p>
          <a:p>
            <a:r>
              <a:rPr lang="en-US" sz="3000" dirty="0" smtClean="0">
                <a:latin typeface="Bahnschrift Condensed" panose="020B0502040204020203" pitchFamily="34" charset="0"/>
              </a:rPr>
              <a:t>GSIAY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usa</a:t>
            </a:r>
            <a:r>
              <a:rPr lang="en-US" sz="3000" dirty="0" smtClean="0">
                <a:latin typeface="Bahnschrift Condensed" panose="020B0502040204020203" pitchFamily="34" charset="0"/>
              </a:rPr>
              <a:t>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su</a:t>
            </a:r>
            <a:r>
              <a:rPr lang="en-US" sz="3000" dirty="0" smtClean="0">
                <a:latin typeface="Bahnschrift Condensed" panose="020B0502040204020203" pitchFamily="34" charset="0"/>
              </a:rPr>
              <a:t>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propia</a:t>
            </a:r>
            <a:r>
              <a:rPr lang="en-US" sz="3000" dirty="0" smtClean="0">
                <a:latin typeface="Bahnschrift Condensed" panose="020B0502040204020203" pitchFamily="34" charset="0"/>
              </a:rPr>
              <a:t>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financiera</a:t>
            </a:r>
            <a:r>
              <a:rPr lang="en-US" sz="3000" dirty="0" smtClean="0">
                <a:latin typeface="Bahnschrift Condensed" panose="020B0502040204020203" pitchFamily="34" charset="0"/>
              </a:rPr>
              <a:t>, pero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ya</a:t>
            </a:r>
            <a:r>
              <a:rPr lang="en-US" sz="3000" dirty="0" smtClean="0">
                <a:latin typeface="Bahnschrift Condensed" panose="020B0502040204020203" pitchFamily="34" charset="0"/>
              </a:rPr>
              <a:t> no lo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usamos</a:t>
            </a:r>
            <a:r>
              <a:rPr lang="en-US" sz="3000" dirty="0" smtClean="0">
                <a:latin typeface="Bahnschrift Condensed" panose="020B0502040204020203" pitchFamily="34" charset="0"/>
              </a:rPr>
              <a:t>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solamente</a:t>
            </a:r>
            <a:r>
              <a:rPr lang="en-US" sz="3000" dirty="0" smtClean="0">
                <a:latin typeface="Bahnschrift Condensed" panose="020B0502040204020203" pitchFamily="34" charset="0"/>
              </a:rPr>
              <a:t>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fue</a:t>
            </a:r>
            <a:r>
              <a:rPr lang="en-US" sz="3000" dirty="0" smtClean="0">
                <a:latin typeface="Bahnschrift Condensed" panose="020B0502040204020203" pitchFamily="34" charset="0"/>
              </a:rPr>
              <a:t> al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inicio</a:t>
            </a:r>
            <a:r>
              <a:rPr lang="en-US" sz="3000" dirty="0" smtClean="0">
                <a:latin typeface="Bahnschrift Condensed" panose="020B0502040204020203" pitchFamily="34" charset="0"/>
              </a:rPr>
              <a:t>,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existen</a:t>
            </a:r>
            <a:r>
              <a:rPr lang="en-US" sz="3000" dirty="0" smtClean="0">
                <a:latin typeface="Bahnschrift Condensed" panose="020B0502040204020203" pitchFamily="34" charset="0"/>
              </a:rPr>
              <a:t> algunas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cuentas</a:t>
            </a:r>
            <a:r>
              <a:rPr lang="en-US" sz="3000" dirty="0" smtClean="0">
                <a:latin typeface="Bahnschrift Condensed" panose="020B0502040204020203" pitchFamily="34" charset="0"/>
              </a:rPr>
              <a:t> que se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usaron</a:t>
            </a:r>
            <a:r>
              <a:rPr lang="en-US" sz="3000" dirty="0" smtClean="0">
                <a:latin typeface="Bahnschrift Condensed" panose="020B0502040204020203" pitchFamily="34" charset="0"/>
              </a:rPr>
              <a:t> con el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mismo</a:t>
            </a:r>
            <a:r>
              <a:rPr lang="en-US" sz="3000" dirty="0" smtClean="0">
                <a:latin typeface="Bahnschrift Condensed" panose="020B0502040204020203" pitchFamily="34" charset="0"/>
              </a:rPr>
              <a:t>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gsiay</a:t>
            </a:r>
            <a:r>
              <a:rPr lang="en-US" sz="3000" dirty="0" smtClean="0">
                <a:latin typeface="Bahnschrift Condensed" panose="020B0502040204020203" pitchFamily="34" charset="0"/>
              </a:rPr>
              <a:t>.</a:t>
            </a:r>
          </a:p>
          <a:p>
            <a:r>
              <a:rPr lang="en-US" sz="3000" dirty="0" smtClean="0">
                <a:latin typeface="Bahnschrift Condensed" panose="020B0502040204020203" pitchFamily="34" charset="0"/>
              </a:rPr>
              <a:t>BHHC</a:t>
            </a:r>
            <a:r>
              <a:rPr lang="en-US" sz="3000" dirty="0">
                <a:latin typeface="Bahnschrift Condensed" panose="020B0502040204020203" pitchFamily="34" charset="0"/>
              </a:rPr>
              <a:t>	</a:t>
            </a:r>
            <a:r>
              <a:rPr lang="en-US" sz="3000" dirty="0" smtClean="0">
                <a:latin typeface="Bahnschrift Condensed" panose="020B0502040204020203" pitchFamily="34" charset="0"/>
              </a:rPr>
              <a:t> -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propia</a:t>
            </a:r>
            <a:r>
              <a:rPr lang="en-US" sz="3000" dirty="0" smtClean="0">
                <a:latin typeface="Bahnschrift Condensed" panose="020B0502040204020203" pitchFamily="34" charset="0"/>
              </a:rPr>
              <a:t> </a:t>
            </a:r>
            <a:r>
              <a:rPr lang="en-US" sz="3000" dirty="0" err="1" smtClean="0">
                <a:latin typeface="Bahnschrift Condensed" panose="020B0502040204020203" pitchFamily="34" charset="0"/>
              </a:rPr>
              <a:t>financiera</a:t>
            </a:r>
            <a:endParaRPr lang="en-US" sz="3000" dirty="0" smtClean="0">
              <a:latin typeface="Bahnschrift Condensed" panose="020B0502040204020203" pitchFamily="34" charset="0"/>
            </a:endParaRPr>
          </a:p>
          <a:p>
            <a:r>
              <a:rPr lang="en-US" sz="3000" b="1" dirty="0" smtClean="0">
                <a:latin typeface="Bahnschrift Condensed" panose="020B0502040204020203" pitchFamily="34" charset="0"/>
              </a:rPr>
              <a:t>Great west-</a:t>
            </a:r>
            <a:r>
              <a:rPr lang="en-US" sz="3000" b="1" dirty="0" err="1">
                <a:latin typeface="Bahnschrift Condensed" panose="020B0502040204020203" pitchFamily="34" charset="0"/>
              </a:rPr>
              <a:t>propia</a:t>
            </a:r>
            <a:r>
              <a:rPr lang="en-US" sz="3000" b="1" dirty="0">
                <a:latin typeface="Bahnschrift Condensed" panose="020B0502040204020203" pitchFamily="34" charset="0"/>
              </a:rPr>
              <a:t> </a:t>
            </a:r>
            <a:r>
              <a:rPr lang="en-US" sz="3000" b="1" dirty="0" err="1" smtClean="0">
                <a:latin typeface="Bahnschrift Condensed" panose="020B0502040204020203" pitchFamily="34" charset="0"/>
              </a:rPr>
              <a:t>financiera</a:t>
            </a:r>
            <a:endParaRPr lang="en-US" sz="3000" b="1" dirty="0" smtClean="0">
              <a:latin typeface="Bahnschrift Condensed" panose="020B0502040204020203" pitchFamily="34" charset="0"/>
            </a:endParaRPr>
          </a:p>
          <a:p>
            <a:r>
              <a:rPr lang="en-US" sz="3000" b="1" dirty="0" smtClean="0">
                <a:latin typeface="Bahnschrift Condensed" panose="020B0502040204020203" pitchFamily="34" charset="0"/>
              </a:rPr>
              <a:t>Progressive-</a:t>
            </a:r>
            <a:r>
              <a:rPr lang="en-US" sz="3000" b="1" dirty="0" err="1" smtClean="0">
                <a:latin typeface="Bahnschrift Condensed" panose="020B0502040204020203" pitchFamily="34" charset="0"/>
              </a:rPr>
              <a:t>propia</a:t>
            </a:r>
            <a:r>
              <a:rPr lang="en-US" sz="3000" b="1" dirty="0" smtClean="0">
                <a:latin typeface="Bahnschrift Condensed" panose="020B0502040204020203" pitchFamily="34" charset="0"/>
              </a:rPr>
              <a:t> </a:t>
            </a:r>
            <a:r>
              <a:rPr lang="en-US" sz="3000" b="1" dirty="0" err="1" smtClean="0">
                <a:latin typeface="Bahnschrift Condensed" panose="020B0502040204020203" pitchFamily="34" charset="0"/>
              </a:rPr>
              <a:t>financiera</a:t>
            </a:r>
            <a:endParaRPr lang="en-US" sz="3000" b="1" dirty="0" smtClean="0">
              <a:latin typeface="Bahnschrift Condensed" panose="020B0502040204020203" pitchFamily="34" charset="0"/>
            </a:endParaRPr>
          </a:p>
          <a:p>
            <a:r>
              <a:rPr lang="en-US" sz="3000" dirty="0">
                <a:latin typeface="Bahnschrift Condensed" panose="020B0502040204020203" pitchFamily="34" charset="0"/>
              </a:rPr>
              <a:t>Texas </a:t>
            </a:r>
            <a:r>
              <a:rPr lang="en-US" sz="3000" dirty="0" smtClean="0">
                <a:latin typeface="Bahnschrift Condensed" panose="020B0502040204020203" pitchFamily="34" charset="0"/>
              </a:rPr>
              <a:t>Mutual </a:t>
            </a:r>
            <a:r>
              <a:rPr lang="en-US" sz="3000" dirty="0">
                <a:latin typeface="Bahnschrift Condensed" panose="020B0502040204020203" pitchFamily="34" charset="0"/>
              </a:rPr>
              <a:t>- </a:t>
            </a:r>
            <a:r>
              <a:rPr lang="en-US" sz="3000" dirty="0" err="1">
                <a:latin typeface="Bahnschrift Condensed" panose="020B0502040204020203" pitchFamily="34" charset="0"/>
              </a:rPr>
              <a:t>propia</a:t>
            </a:r>
            <a:r>
              <a:rPr lang="en-US" sz="3000" dirty="0">
                <a:latin typeface="Bahnschrift Condensed" panose="020B0502040204020203" pitchFamily="34" charset="0"/>
              </a:rPr>
              <a:t> </a:t>
            </a:r>
            <a:r>
              <a:rPr lang="en-US" sz="3000" dirty="0" err="1">
                <a:latin typeface="Bahnschrift Condensed" panose="020B0502040204020203" pitchFamily="34" charset="0"/>
              </a:rPr>
              <a:t>financiera</a:t>
            </a:r>
            <a:endParaRPr lang="en-US" sz="3000" dirty="0">
              <a:latin typeface="Bahnschrift Condensed" panose="020B0502040204020203" pitchFamily="34" charset="0"/>
            </a:endParaRPr>
          </a:p>
          <a:p>
            <a:r>
              <a:rPr lang="en-US" sz="3000" b="1" dirty="0">
                <a:latin typeface="Bahnschrift Condensed" panose="020B0502040204020203" pitchFamily="34" charset="0"/>
              </a:rPr>
              <a:t>Star </a:t>
            </a:r>
            <a:r>
              <a:rPr lang="en-US" sz="3000" b="1" dirty="0" smtClean="0">
                <a:latin typeface="Bahnschrift Condensed" panose="020B0502040204020203" pitchFamily="34" charset="0"/>
              </a:rPr>
              <a:t>Mutual - </a:t>
            </a:r>
            <a:r>
              <a:rPr lang="en-US" sz="3000" b="1" dirty="0" err="1" smtClean="0">
                <a:latin typeface="Bahnschrift Condensed" panose="020B0502040204020203" pitchFamily="34" charset="0"/>
              </a:rPr>
              <a:t>propia</a:t>
            </a:r>
            <a:r>
              <a:rPr lang="en-US" sz="3000" b="1" dirty="0" smtClean="0">
                <a:latin typeface="Bahnschrift Condensed" panose="020B0502040204020203" pitchFamily="34" charset="0"/>
              </a:rPr>
              <a:t> </a:t>
            </a:r>
            <a:r>
              <a:rPr lang="en-US" sz="3000" b="1" dirty="0" err="1" smtClean="0">
                <a:latin typeface="Bahnschrift Condensed" panose="020B0502040204020203" pitchFamily="34" charset="0"/>
              </a:rPr>
              <a:t>financiera</a:t>
            </a:r>
            <a:endParaRPr lang="en-US" sz="3000" b="1" dirty="0" smtClean="0">
              <a:latin typeface="Bahnschrift Condensed" panose="020B0502040204020203" pitchFamily="34" charset="0"/>
            </a:endParaRPr>
          </a:p>
          <a:p>
            <a:r>
              <a:rPr lang="en-US" sz="3000" b="1" dirty="0" smtClean="0">
                <a:latin typeface="Bahnschrift Condensed" panose="020B0502040204020203" pitchFamily="34" charset="0"/>
              </a:rPr>
              <a:t>Timber creek - </a:t>
            </a:r>
            <a:r>
              <a:rPr lang="en-US" sz="3000" b="1" dirty="0" err="1" smtClean="0">
                <a:latin typeface="Bahnschrift Condensed" panose="020B0502040204020203" pitchFamily="34" charset="0"/>
              </a:rPr>
              <a:t>propia</a:t>
            </a:r>
            <a:r>
              <a:rPr lang="en-US" sz="3000" b="1" dirty="0" smtClean="0">
                <a:latin typeface="Bahnschrift Condensed" panose="020B0502040204020203" pitchFamily="34" charset="0"/>
              </a:rPr>
              <a:t> </a:t>
            </a:r>
            <a:r>
              <a:rPr lang="en-US" sz="3000" b="1" dirty="0" err="1" smtClean="0">
                <a:latin typeface="Bahnschrift Condensed" panose="020B0502040204020203" pitchFamily="34" charset="0"/>
              </a:rPr>
              <a:t>financiera</a:t>
            </a:r>
            <a:endParaRPr lang="en-US" sz="3000" b="1" dirty="0" smtClean="0">
              <a:latin typeface="Bahnschrift Condensed" panose="020B0502040204020203" pitchFamily="34" charset="0"/>
            </a:endParaRPr>
          </a:p>
          <a:p>
            <a:r>
              <a:rPr lang="en-US" sz="3000" dirty="0">
                <a:latin typeface="Bahnschrift Condensed" panose="020B0502040204020203" pitchFamily="34" charset="0"/>
              </a:rPr>
              <a:t>Tip </a:t>
            </a:r>
            <a:r>
              <a:rPr lang="en-US" sz="3000" dirty="0" smtClean="0">
                <a:latin typeface="Bahnschrift Condensed" panose="020B0502040204020203" pitchFamily="34" charset="0"/>
              </a:rPr>
              <a:t>National </a:t>
            </a:r>
            <a:r>
              <a:rPr lang="en-US" sz="3000" dirty="0">
                <a:latin typeface="Bahnschrift Condensed" panose="020B0502040204020203" pitchFamily="34" charset="0"/>
              </a:rPr>
              <a:t>- </a:t>
            </a:r>
            <a:r>
              <a:rPr lang="en-US" sz="3000" dirty="0" err="1">
                <a:latin typeface="Bahnschrift Condensed" panose="020B0502040204020203" pitchFamily="34" charset="0"/>
              </a:rPr>
              <a:t>propia</a:t>
            </a:r>
            <a:r>
              <a:rPr lang="en-US" sz="3000" dirty="0">
                <a:latin typeface="Bahnschrift Condensed" panose="020B0502040204020203" pitchFamily="34" charset="0"/>
              </a:rPr>
              <a:t> </a:t>
            </a:r>
            <a:r>
              <a:rPr lang="en-US" sz="3000" dirty="0" smtClean="0">
                <a:latin typeface="Bahnschrift Condensed" panose="020B0502040204020203" pitchFamily="34" charset="0"/>
              </a:rPr>
              <a:t>financier</a:t>
            </a:r>
          </a:p>
          <a:p>
            <a:r>
              <a:rPr lang="es-MX" sz="3000" b="1" dirty="0" err="1" smtClean="0">
                <a:latin typeface="Bahnschrift Condensed" panose="020B0502040204020203" pitchFamily="34" charset="0"/>
              </a:rPr>
              <a:t>Geico</a:t>
            </a:r>
            <a:r>
              <a:rPr lang="es-MX" sz="3000" b="1" dirty="0" smtClean="0">
                <a:latin typeface="Bahnschrift Condensed" panose="020B0502040204020203" pitchFamily="34" charset="0"/>
              </a:rPr>
              <a:t> - </a:t>
            </a:r>
            <a:r>
              <a:rPr lang="en-US" sz="3000" b="1" dirty="0">
                <a:latin typeface="Bahnschrift Condensed" panose="020B0502040204020203" pitchFamily="34" charset="0"/>
              </a:rPr>
              <a:t>- </a:t>
            </a:r>
            <a:r>
              <a:rPr lang="en-US" sz="3000" b="1" dirty="0" err="1">
                <a:latin typeface="Bahnschrift Condensed" panose="020B0502040204020203" pitchFamily="34" charset="0"/>
              </a:rPr>
              <a:t>propia</a:t>
            </a:r>
            <a:r>
              <a:rPr lang="en-US" sz="3000" b="1" dirty="0">
                <a:latin typeface="Bahnschrift Condensed" panose="020B0502040204020203" pitchFamily="34" charset="0"/>
              </a:rPr>
              <a:t> </a:t>
            </a:r>
            <a:r>
              <a:rPr lang="en-US" sz="3000" b="1" dirty="0" err="1">
                <a:latin typeface="Bahnschrift Condensed" panose="020B0502040204020203" pitchFamily="34" charset="0"/>
              </a:rPr>
              <a:t>financiera</a:t>
            </a:r>
            <a:endParaRPr lang="en-US" sz="3000" b="1" dirty="0"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5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1" y="11355"/>
            <a:ext cx="10396882" cy="1151965"/>
          </a:xfrm>
        </p:spPr>
        <p:txBody>
          <a:bodyPr/>
          <a:lstStyle/>
          <a:p>
            <a:r>
              <a:rPr lang="es-MX" dirty="0" smtClean="0"/>
              <a:t>FINANCIERAS	-- </a:t>
            </a:r>
            <a:r>
              <a:rPr lang="es-MX" dirty="0" err="1" smtClean="0"/>
              <a:t>ipfs</a:t>
            </a:r>
            <a:r>
              <a:rPr lang="es-MX" dirty="0" smtClean="0"/>
              <a:t>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96240" y="965200"/>
            <a:ext cx="10356532" cy="4775200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app.ipfs.com/login</a:t>
            </a:r>
            <a:endParaRPr lang="en-US" dirty="0" smtClean="0"/>
          </a:p>
          <a:p>
            <a:endParaRPr lang="es-MX" dirty="0"/>
          </a:p>
          <a:p>
            <a:pPr marL="0" indent="0">
              <a:buNone/>
            </a:pPr>
            <a:r>
              <a:rPr lang="es-MX" dirty="0" smtClean="0"/>
              <a:t>USUARIOS :</a:t>
            </a:r>
          </a:p>
          <a:p>
            <a:r>
              <a:rPr lang="es-MX" dirty="0" smtClean="0"/>
              <a:t>AJM </a:t>
            </a:r>
          </a:p>
          <a:p>
            <a:r>
              <a:rPr lang="es-MX" dirty="0" smtClean="0"/>
              <a:t>JLP </a:t>
            </a:r>
          </a:p>
          <a:p>
            <a:r>
              <a:rPr lang="es-MX" dirty="0" smtClean="0"/>
              <a:t>GREENLAND</a:t>
            </a:r>
          </a:p>
          <a:p>
            <a:r>
              <a:rPr lang="es-MX" dirty="0" smtClean="0"/>
              <a:t>PARAMOUNT JLP</a:t>
            </a:r>
          </a:p>
          <a:p>
            <a:r>
              <a:rPr lang="es-MX" dirty="0" smtClean="0"/>
              <a:t>PARAMOUNT AJM</a:t>
            </a:r>
          </a:p>
          <a:p>
            <a:r>
              <a:rPr lang="es-MX" dirty="0" smtClean="0"/>
              <a:t>TREATY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31280" y="218440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 smtClean="0"/>
          </a:p>
          <a:p>
            <a:endParaRPr lang="es-MX" dirty="0" smtClean="0"/>
          </a:p>
          <a:p>
            <a:endParaRPr lang="es-MX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161" y="1054632"/>
            <a:ext cx="6639472" cy="83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614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FINANCIERAS	</a:t>
            </a:r>
            <a:r>
              <a:rPr lang="es-MX" dirty="0" smtClean="0"/>
              <a:t>- </a:t>
            </a:r>
            <a:r>
              <a:rPr lang="es-MX" dirty="0" err="1" smtClean="0"/>
              <a:t>first</a:t>
            </a:r>
            <a:r>
              <a:rPr lang="es-MX" dirty="0" smtClean="0"/>
              <a:t> </a:t>
            </a:r>
            <a:r>
              <a:rPr lang="es-MX" dirty="0" err="1" smtClean="0"/>
              <a:t>insite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pbs.first-quotes.com/entitylogin.aspx?portfolio=900</a:t>
            </a:r>
            <a:endParaRPr lang="en-US" dirty="0" smtClean="0"/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USUARIOS :</a:t>
            </a:r>
          </a:p>
          <a:p>
            <a:r>
              <a:rPr lang="es-MX" dirty="0"/>
              <a:t>AJM </a:t>
            </a:r>
          </a:p>
          <a:p>
            <a:r>
              <a:rPr lang="es-MX" dirty="0"/>
              <a:t>JLP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652" y="4014457"/>
            <a:ext cx="5705040" cy="116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8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FINANCIERAS	- </a:t>
            </a:r>
            <a:r>
              <a:rPr lang="es-MX" dirty="0" smtClean="0"/>
              <a:t>AGILE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s-MX" dirty="0" smtClean="0"/>
          </a:p>
          <a:p>
            <a:pPr marL="0" indent="0">
              <a:buNone/>
            </a:pPr>
            <a:r>
              <a:rPr lang="es-MX" dirty="0"/>
              <a:t>USUARIOS :</a:t>
            </a:r>
          </a:p>
          <a:p>
            <a:r>
              <a:rPr lang="es-MX" dirty="0"/>
              <a:t>AJM </a:t>
            </a:r>
          </a:p>
          <a:p>
            <a:r>
              <a:rPr lang="es-MX" dirty="0"/>
              <a:t>JLP </a:t>
            </a:r>
          </a:p>
          <a:p>
            <a:pPr marL="0" indent="0">
              <a:buNone/>
            </a:pPr>
            <a:endParaRPr lang="es-MX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612" y="3808102"/>
            <a:ext cx="5498148" cy="87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4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FINANCIERAS	- </a:t>
            </a:r>
            <a:r>
              <a:rPr lang="es-MX" dirty="0" smtClean="0"/>
              <a:t>Honor capital – ETI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80732" y="1635760"/>
            <a:ext cx="8915400" cy="3777622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https://www.etifinance.com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USUARIOS :</a:t>
            </a:r>
          </a:p>
          <a:p>
            <a:r>
              <a:rPr lang="es-MX" dirty="0"/>
              <a:t>AJM </a:t>
            </a:r>
            <a:endParaRPr lang="es-MX" dirty="0" smtClean="0"/>
          </a:p>
          <a:p>
            <a:endParaRPr lang="es-MX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244" y="4579696"/>
            <a:ext cx="5932001" cy="75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32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800" dirty="0"/>
              <a:t>FINANCIERAS	</a:t>
            </a:r>
            <a:r>
              <a:rPr lang="es-MX" sz="2800" dirty="0" smtClean="0"/>
              <a:t/>
            </a:r>
            <a:br>
              <a:rPr lang="es-MX" sz="2800" dirty="0" smtClean="0"/>
            </a:br>
            <a:r>
              <a:rPr lang="es-MX" sz="2800" dirty="0" smtClean="0"/>
              <a:t>SOUTHERN TRANSPORTATION FINANCE LLC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621" y="1837765"/>
            <a:ext cx="4659242" cy="365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54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 smtClean="0"/>
              <a:t>FINANCIERAS-</a:t>
            </a:r>
            <a:r>
              <a:rPr lang="en-US" sz="4000" b="1" dirty="0"/>
              <a:t> ARIZONA PREMIUM FINANCE CO.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589212" y="2143760"/>
            <a:ext cx="8915400" cy="3777622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www.apfcinc.com/Agents.asp</a:t>
            </a:r>
            <a:endParaRPr lang="en-US" dirty="0" smtClean="0"/>
          </a:p>
          <a:p>
            <a:pPr marL="0" indent="0">
              <a:buNone/>
            </a:pPr>
            <a:r>
              <a:rPr lang="es-MX" dirty="0"/>
              <a:t>USUARIOS :</a:t>
            </a:r>
          </a:p>
          <a:p>
            <a:r>
              <a:rPr lang="es-MX" dirty="0"/>
              <a:t>AJM </a:t>
            </a:r>
          </a:p>
          <a:p>
            <a:pPr marL="0" indent="0">
              <a:buNone/>
            </a:pPr>
            <a:endParaRPr lang="es-MX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212" y="4627870"/>
            <a:ext cx="7256793" cy="87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16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FINANCIERAS-PBS –EXTENSION DE IPFS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36332" y="1605280"/>
            <a:ext cx="5244148" cy="3777622"/>
          </a:xfrm>
        </p:spPr>
        <p:txBody>
          <a:bodyPr>
            <a:normAutofit/>
          </a:bodyPr>
          <a:lstStyle/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www.pbsnetaccess.com/EntityLogin.aspx?portfolio=1080</a:t>
            </a:r>
            <a:endParaRPr lang="en-US" dirty="0" smtClean="0"/>
          </a:p>
          <a:p>
            <a:pPr marL="0" indent="0">
              <a:buNone/>
            </a:pPr>
            <a:r>
              <a:rPr lang="es-MX" dirty="0" smtClean="0"/>
              <a:t>USUARIOS </a:t>
            </a:r>
            <a:r>
              <a:rPr lang="es-MX" dirty="0"/>
              <a:t>:</a:t>
            </a:r>
          </a:p>
          <a:p>
            <a:r>
              <a:rPr lang="es-MX" dirty="0"/>
              <a:t>AJM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s-MX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s-MX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768" y="1605281"/>
            <a:ext cx="4015472" cy="354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041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280</TotalTime>
  <Words>183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Narrow</vt:lpstr>
      <vt:lpstr>Bahnschrift Condensed</vt:lpstr>
      <vt:lpstr>Calibri</vt:lpstr>
      <vt:lpstr>Impact</vt:lpstr>
      <vt:lpstr>Main Event</vt:lpstr>
      <vt:lpstr>PowerPoint Presentation</vt:lpstr>
      <vt:lpstr>Agencias   </vt:lpstr>
      <vt:lpstr>Mgas  vs carriers  </vt:lpstr>
      <vt:lpstr>MGAS</vt:lpstr>
      <vt:lpstr>MGA QUE USAN SU PROPIA FINANCIERA</vt:lpstr>
      <vt:lpstr>FINANCIERAS -- ipfs  </vt:lpstr>
      <vt:lpstr>FINANCIERAS - first insite</vt:lpstr>
      <vt:lpstr>FINANCIERAS - AGILE</vt:lpstr>
      <vt:lpstr>FINANCIERAS - Honor capital – ETI  </vt:lpstr>
      <vt:lpstr>FINANCIERAS  SOUTHERN TRANSPORTATION FINANCE LLC</vt:lpstr>
      <vt:lpstr>FINANCIERAS- ARIZONA PREMIUM FINANCE CO.</vt:lpstr>
      <vt:lpstr>FINANCIERAS-PBS –EXTENSION DE IPFS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Mgas  vs carriers  </dc:title>
  <dc:creator>pp</dc:creator>
  <cp:lastModifiedBy>pp</cp:lastModifiedBy>
  <cp:revision>23</cp:revision>
  <dcterms:created xsi:type="dcterms:W3CDTF">2025-06-03T17:51:30Z</dcterms:created>
  <dcterms:modified xsi:type="dcterms:W3CDTF">2025-10-04T18:53:33Z</dcterms:modified>
</cp:coreProperties>
</file>