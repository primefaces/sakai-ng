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59" r:id="rId5"/>
    <p:sldId id="260" r:id="rId6"/>
    <p:sldId id="261" r:id="rId7"/>
    <p:sldId id="263" r:id="rId8"/>
    <p:sldId id="264" r:id="rId9"/>
    <p:sldId id="265"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5035A1-B18F-4737-AD49-47925756DD2B}" type="datetimeFigureOut">
              <a:rPr lang="en-US" smtClean="0"/>
              <a:t>10/9/2025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11CDA1-0FA4-4437-8CC0-8C7958196CA6}" type="slidenum">
              <a:rPr lang="en-US" smtClean="0"/>
              <a:t>‹#›</a:t>
            </a:fld>
            <a:endParaRPr lang="en-US"/>
          </a:p>
        </p:txBody>
      </p:sp>
    </p:spTree>
    <p:extLst>
      <p:ext uri="{BB962C8B-B14F-4D97-AF65-F5344CB8AC3E}">
        <p14:creationId xmlns:p14="http://schemas.microsoft.com/office/powerpoint/2010/main" val="255175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0FE49EE4-6040-463F-97DF-260D747930E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406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E49EE4-6040-463F-97DF-260D747930E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1944813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FE49EE4-6040-463F-97DF-260D747930E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0130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FE49EE4-6040-463F-97DF-260D747930E4}"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3054398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FE49EE4-6040-463F-97DF-260D747930E4}" type="datetimeFigureOut">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479038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FE49EE4-6040-463F-97DF-260D747930E4}" type="datetimeFigureOut">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2440876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E49EE4-6040-463F-97DF-260D747930E4}" type="datetimeFigureOut">
              <a:rPr lang="en-US" smtClean="0"/>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2623585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FE49EE4-6040-463F-97DF-260D747930E4}"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80156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FE49EE4-6040-463F-97DF-260D747930E4}"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05CB1-F409-49AC-A279-FFB87070BCD7}"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2745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E49EE4-6040-463F-97DF-260D747930E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spTree>
    <p:extLst>
      <p:ext uri="{BB962C8B-B14F-4D97-AF65-F5344CB8AC3E}">
        <p14:creationId xmlns:p14="http://schemas.microsoft.com/office/powerpoint/2010/main" val="2278327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E49EE4-6040-463F-97DF-260D747930E4}"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05CB1-F409-49AC-A279-FFB87070BCD7}"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0821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FE49EE4-6040-463F-97DF-260D747930E4}" type="datetimeFigureOut">
              <a:rPr lang="en-US" smtClean="0"/>
              <a:t>10/9/2025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A805CB1-F409-49AC-A279-FFB87070BCD7}"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507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s-MX" dirty="0" smtClean="0"/>
              <a:t>Paramount </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369815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err="1" smtClean="0"/>
              <a:t>Carriers</a:t>
            </a:r>
            <a:r>
              <a:rPr lang="es-MX" dirty="0" smtClean="0"/>
              <a:t> </a:t>
            </a:r>
            <a:endParaRPr lang="en-US" dirty="0"/>
          </a:p>
        </p:txBody>
      </p:sp>
      <p:pic>
        <p:nvPicPr>
          <p:cNvPr id="1026" name="Picture 2" descr="Access and Deletion Rights Request Form - Paramount General Agency"/>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289280" y="5161280"/>
            <a:ext cx="2563963" cy="145224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097280" y="3474720"/>
            <a:ext cx="4754880" cy="1754326"/>
          </a:xfrm>
          <a:prstGeom prst="rect">
            <a:avLst/>
          </a:prstGeom>
          <a:noFill/>
        </p:spPr>
        <p:txBody>
          <a:bodyPr wrap="square" rtlCol="0">
            <a:spAutoFit/>
          </a:bodyPr>
          <a:lstStyle/>
          <a:p>
            <a:r>
              <a:rPr lang="es-MX" dirty="0" err="1" smtClean="0"/>
              <a:t>Agricultural</a:t>
            </a:r>
            <a:r>
              <a:rPr lang="es-MX" dirty="0" smtClean="0"/>
              <a:t> </a:t>
            </a:r>
          </a:p>
          <a:p>
            <a:r>
              <a:rPr lang="es-MX" dirty="0" smtClean="0"/>
              <a:t>DB </a:t>
            </a:r>
            <a:endParaRPr lang="en-US" dirty="0"/>
          </a:p>
          <a:p>
            <a:r>
              <a:rPr lang="es-MX" dirty="0" smtClean="0"/>
              <a:t>OCCIDENTAL</a:t>
            </a:r>
          </a:p>
          <a:p>
            <a:r>
              <a:rPr lang="es-MX" dirty="0" smtClean="0"/>
              <a:t>NAFTA</a:t>
            </a:r>
          </a:p>
          <a:p>
            <a:r>
              <a:rPr lang="es-MX" dirty="0" err="1" smtClean="0"/>
              <a:t>Highlander</a:t>
            </a:r>
            <a:r>
              <a:rPr lang="es-MX" dirty="0" smtClean="0"/>
              <a:t> </a:t>
            </a:r>
          </a:p>
          <a:p>
            <a:endParaRPr lang="es-MX" dirty="0" smtClean="0"/>
          </a:p>
        </p:txBody>
      </p:sp>
    </p:spTree>
    <p:extLst>
      <p:ext uri="{BB962C8B-B14F-4D97-AF65-F5344CB8AC3E}">
        <p14:creationId xmlns:p14="http://schemas.microsoft.com/office/powerpoint/2010/main" val="41423785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smtClean="0"/>
              <a:t>Radio de </a:t>
            </a:r>
            <a:r>
              <a:rPr lang="es-MX" dirty="0" err="1" smtClean="0"/>
              <a:t>operacion</a:t>
            </a:r>
            <a:endParaRPr lang="en-US" dirty="0"/>
          </a:p>
        </p:txBody>
      </p:sp>
      <p:pic>
        <p:nvPicPr>
          <p:cNvPr id="1026" name="Picture 2" descr="Access and Deletion Rights Request Form - Paramount General Agency"/>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289280" y="5161280"/>
            <a:ext cx="2563963" cy="145224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107440" y="3230880"/>
            <a:ext cx="1351588" cy="1200329"/>
          </a:xfrm>
          <a:prstGeom prst="rect">
            <a:avLst/>
          </a:prstGeom>
          <a:noFill/>
        </p:spPr>
        <p:txBody>
          <a:bodyPr wrap="none" rtlCol="0">
            <a:spAutoFit/>
          </a:bodyPr>
          <a:lstStyle/>
          <a:p>
            <a:r>
              <a:rPr lang="es-MX" dirty="0" smtClean="0"/>
              <a:t>INTRASTATE </a:t>
            </a:r>
          </a:p>
          <a:p>
            <a:r>
              <a:rPr lang="es-MX" dirty="0" smtClean="0"/>
              <a:t>INTERSTATE </a:t>
            </a:r>
          </a:p>
          <a:p>
            <a:endParaRPr lang="es-MX" dirty="0"/>
          </a:p>
          <a:p>
            <a:endParaRPr lang="en-US" dirty="0"/>
          </a:p>
        </p:txBody>
      </p:sp>
      <p:sp>
        <p:nvSpPr>
          <p:cNvPr id="5" name="Rectangle 4"/>
          <p:cNvSpPr/>
          <p:nvPr/>
        </p:nvSpPr>
        <p:spPr>
          <a:xfrm>
            <a:off x="1107440" y="4095095"/>
            <a:ext cx="6096000" cy="923330"/>
          </a:xfrm>
          <a:prstGeom prst="rect">
            <a:avLst/>
          </a:prstGeom>
        </p:spPr>
        <p:txBody>
          <a:bodyPr>
            <a:spAutoFit/>
          </a:bodyPr>
          <a:lstStyle/>
          <a:p>
            <a:endParaRPr lang="en-US" dirty="0">
              <a:solidFill>
                <a:srgbClr val="000000"/>
              </a:solidFill>
            </a:endParaRPr>
          </a:p>
          <a:p>
            <a:r>
              <a:rPr lang="en-US" dirty="0">
                <a:solidFill>
                  <a:srgbClr val="000000"/>
                </a:solidFill>
              </a:rPr>
              <a:t> </a:t>
            </a:r>
            <a:r>
              <a:rPr lang="en-US" dirty="0" smtClean="0">
                <a:solidFill>
                  <a:srgbClr val="000000"/>
                </a:solidFill>
              </a:rPr>
              <a:t>TERRITORIO</a:t>
            </a:r>
            <a:endParaRPr lang="en-US" dirty="0">
              <a:solidFill>
                <a:srgbClr val="000000"/>
              </a:solidFill>
            </a:endParaRPr>
          </a:p>
          <a:p>
            <a:r>
              <a:rPr lang="en-US" dirty="0">
                <a:solidFill>
                  <a:srgbClr val="000000"/>
                </a:solidFill>
              </a:rPr>
              <a:t>California or Texas </a:t>
            </a:r>
            <a:endParaRPr lang="en-US" dirty="0"/>
          </a:p>
        </p:txBody>
      </p:sp>
    </p:spTree>
    <p:extLst>
      <p:ext uri="{BB962C8B-B14F-4D97-AF65-F5344CB8AC3E}">
        <p14:creationId xmlns:p14="http://schemas.microsoft.com/office/powerpoint/2010/main" val="2343404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Drivers / unidades</a:t>
            </a:r>
            <a:endParaRPr lang="en-US" dirty="0"/>
          </a:p>
        </p:txBody>
      </p:sp>
      <p:pic>
        <p:nvPicPr>
          <p:cNvPr id="1026" name="Picture 2" descr="Access and Deletion Rights Request Form - Paramount General Agency"/>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289280" y="5161280"/>
            <a:ext cx="2563963" cy="145224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82320" y="2084832"/>
            <a:ext cx="11132856" cy="2031325"/>
          </a:xfrm>
          <a:prstGeom prst="rect">
            <a:avLst/>
          </a:prstGeom>
          <a:noFill/>
        </p:spPr>
        <p:txBody>
          <a:bodyPr wrap="none" rtlCol="0">
            <a:spAutoFit/>
          </a:bodyPr>
          <a:lstStyle/>
          <a:p>
            <a:r>
              <a:rPr lang="es-ES" dirty="0"/>
              <a:t>El conductor debe tener al menos 23 años de edad.</a:t>
            </a:r>
          </a:p>
          <a:p>
            <a:r>
              <a:rPr lang="es-ES" dirty="0"/>
              <a:t>Debe tener al menos 2 años completos de experiencia en conducción comercial.</a:t>
            </a:r>
          </a:p>
          <a:p>
            <a:r>
              <a:rPr lang="es-ES" dirty="0"/>
              <a:t>No más de 3 infracciones de tránsito en los últimos 36 meses. No más de 1 accidente con culpa en los últimos 36 meses.</a:t>
            </a:r>
          </a:p>
          <a:p>
            <a:r>
              <a:rPr lang="es-ES" dirty="0"/>
              <a:t>Todos los conductores deben estar inscritos en la póliza.</a:t>
            </a:r>
          </a:p>
          <a:p>
            <a:r>
              <a:rPr lang="es-ES" dirty="0"/>
              <a:t>Todos los conductores deben cumplir con los requisitos físicos mínimos exigidos por las regulaciones federales del </a:t>
            </a:r>
            <a:endParaRPr lang="es-ES" dirty="0" smtClean="0"/>
          </a:p>
          <a:p>
            <a:r>
              <a:rPr lang="es-ES" dirty="0" smtClean="0"/>
              <a:t>Departamento </a:t>
            </a:r>
            <a:r>
              <a:rPr lang="es-ES" dirty="0"/>
              <a:t>de Transporte (DOT) según el Título 49, Parte 391.41.</a:t>
            </a:r>
          </a:p>
          <a:p>
            <a:r>
              <a:rPr lang="es-ES" dirty="0"/>
              <a:t>Los conductores mayores de 65 años deben presentar un certificado físico completo del DOT vigente y certificado.</a:t>
            </a:r>
            <a:r>
              <a:rPr lang="en-US" dirty="0" smtClean="0"/>
              <a:t>.</a:t>
            </a:r>
            <a:endParaRPr lang="en-US" dirty="0"/>
          </a:p>
        </p:txBody>
      </p:sp>
    </p:spTree>
    <p:extLst>
      <p:ext uri="{BB962C8B-B14F-4D97-AF65-F5344CB8AC3E}">
        <p14:creationId xmlns:p14="http://schemas.microsoft.com/office/powerpoint/2010/main" val="2180195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Coberturas</a:t>
            </a:r>
            <a:endParaRPr lang="en-US" dirty="0"/>
          </a:p>
        </p:txBody>
      </p:sp>
      <p:pic>
        <p:nvPicPr>
          <p:cNvPr id="1026" name="Picture 2" descr="Access and Deletion Rights Request Form - Paramount General Agency"/>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289280" y="5161280"/>
            <a:ext cx="2563963" cy="145224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70000" y="2509520"/>
            <a:ext cx="577402" cy="1477328"/>
          </a:xfrm>
          <a:prstGeom prst="rect">
            <a:avLst/>
          </a:prstGeom>
          <a:noFill/>
        </p:spPr>
        <p:txBody>
          <a:bodyPr wrap="none" rtlCol="0">
            <a:spAutoFit/>
          </a:bodyPr>
          <a:lstStyle/>
          <a:p>
            <a:r>
              <a:rPr lang="es-MX" dirty="0" smtClean="0"/>
              <a:t>Al </a:t>
            </a:r>
          </a:p>
          <a:p>
            <a:r>
              <a:rPr lang="es-MX" dirty="0" smtClean="0"/>
              <a:t>Pd</a:t>
            </a:r>
          </a:p>
          <a:p>
            <a:r>
              <a:rPr lang="es-MX" dirty="0" err="1" smtClean="0"/>
              <a:t>Ntl</a:t>
            </a:r>
            <a:r>
              <a:rPr lang="es-MX" dirty="0" smtClean="0"/>
              <a:t> </a:t>
            </a:r>
          </a:p>
          <a:p>
            <a:r>
              <a:rPr lang="es-MX" dirty="0" err="1" smtClean="0"/>
              <a:t>Mtc</a:t>
            </a:r>
            <a:r>
              <a:rPr lang="es-MX" dirty="0" smtClean="0"/>
              <a:t> </a:t>
            </a:r>
          </a:p>
          <a:p>
            <a:endParaRPr lang="en-US" dirty="0"/>
          </a:p>
        </p:txBody>
      </p:sp>
      <p:sp>
        <p:nvSpPr>
          <p:cNvPr id="5" name="TextBox 4"/>
          <p:cNvSpPr txBox="1"/>
          <p:nvPr/>
        </p:nvSpPr>
        <p:spPr>
          <a:xfrm>
            <a:off x="4277360" y="2621280"/>
            <a:ext cx="4837735" cy="1477328"/>
          </a:xfrm>
          <a:prstGeom prst="rect">
            <a:avLst/>
          </a:prstGeom>
          <a:noFill/>
        </p:spPr>
        <p:txBody>
          <a:bodyPr wrap="none" rtlCol="0">
            <a:spAutoFit/>
          </a:bodyPr>
          <a:lstStyle/>
          <a:p>
            <a:r>
              <a:rPr lang="es-MX" dirty="0" smtClean="0"/>
              <a:t>Al Paramount = usar el </a:t>
            </a:r>
            <a:r>
              <a:rPr lang="es-MX" dirty="0" err="1" smtClean="0"/>
              <a:t>pfa</a:t>
            </a:r>
            <a:r>
              <a:rPr lang="es-MX" dirty="0" smtClean="0"/>
              <a:t> que ellos dan </a:t>
            </a:r>
          </a:p>
          <a:p>
            <a:endParaRPr lang="es-MX" dirty="0"/>
          </a:p>
          <a:p>
            <a:r>
              <a:rPr lang="es-MX" dirty="0" err="1" smtClean="0"/>
              <a:t>Mtc</a:t>
            </a:r>
            <a:r>
              <a:rPr lang="es-MX" dirty="0" smtClean="0"/>
              <a:t> /</a:t>
            </a:r>
            <a:r>
              <a:rPr lang="es-MX" dirty="0" err="1" smtClean="0"/>
              <a:t>pd</a:t>
            </a:r>
            <a:r>
              <a:rPr lang="es-MX" dirty="0" smtClean="0"/>
              <a:t> por fuera AL = PUEDES USAR OTRO </a:t>
            </a:r>
            <a:r>
              <a:rPr lang="es-MX" dirty="0" err="1" smtClean="0"/>
              <a:t>pfa</a:t>
            </a:r>
            <a:r>
              <a:rPr lang="es-MX" dirty="0" smtClean="0"/>
              <a:t> </a:t>
            </a:r>
          </a:p>
          <a:p>
            <a:endParaRPr lang="es-MX" dirty="0"/>
          </a:p>
          <a:p>
            <a:endParaRPr lang="en-US" dirty="0"/>
          </a:p>
        </p:txBody>
      </p:sp>
    </p:spTree>
    <p:extLst>
      <p:ext uri="{BB962C8B-B14F-4D97-AF65-F5344CB8AC3E}">
        <p14:creationId xmlns:p14="http://schemas.microsoft.com/office/powerpoint/2010/main" val="229199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err="1"/>
              <a:t>additional</a:t>
            </a:r>
            <a:r>
              <a:rPr lang="es-MX" dirty="0"/>
              <a:t> &amp; </a:t>
            </a:r>
            <a:r>
              <a:rPr lang="es-MX" dirty="0" err="1"/>
              <a:t>wos</a:t>
            </a:r>
            <a:endParaRPr lang="en-US" dirty="0"/>
          </a:p>
        </p:txBody>
      </p:sp>
      <p:pic>
        <p:nvPicPr>
          <p:cNvPr id="1026" name="Picture 2" descr="Access and Deletion Rights Request Form - Paramount General Agency"/>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289280" y="5161280"/>
            <a:ext cx="2563963" cy="1452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623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Agricultural Workers Mutual Auto Insurance</a:t>
            </a:r>
          </a:p>
        </p:txBody>
      </p:sp>
      <p:pic>
        <p:nvPicPr>
          <p:cNvPr id="1026" name="Picture 2" descr="Access and Deletion Rights Request Form - Paramount General Agency"/>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289280" y="5161280"/>
            <a:ext cx="2563963" cy="145224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92480" y="2084832"/>
            <a:ext cx="7291163" cy="4524315"/>
          </a:xfrm>
          <a:prstGeom prst="rect">
            <a:avLst/>
          </a:prstGeom>
          <a:noFill/>
        </p:spPr>
        <p:txBody>
          <a:bodyPr wrap="none" rtlCol="0">
            <a:spAutoFit/>
          </a:bodyPr>
          <a:lstStyle/>
          <a:p>
            <a:r>
              <a:rPr lang="en-US" dirty="0"/>
              <a:t>Preferred Submissions:</a:t>
            </a:r>
          </a:p>
          <a:p>
            <a:r>
              <a:rPr lang="en-US" dirty="0"/>
              <a:t>2 years of industry experience (a new business will be accepted if the owner </a:t>
            </a:r>
            <a:endParaRPr lang="en-US" dirty="0" smtClean="0"/>
          </a:p>
          <a:p>
            <a:r>
              <a:rPr lang="en-US" dirty="0" smtClean="0"/>
              <a:t>or </a:t>
            </a:r>
            <a:r>
              <a:rPr lang="en-US" dirty="0"/>
              <a:t>insured has at least 3 years of commercial trucking experience)</a:t>
            </a:r>
          </a:p>
          <a:p>
            <a:r>
              <a:rPr lang="en-US" dirty="0"/>
              <a:t>Accounts transporting refrigerated, dry, flatbed, or intermodal freight</a:t>
            </a:r>
          </a:p>
          <a:p>
            <a:r>
              <a:rPr lang="en-US" dirty="0"/>
              <a:t>Maximum of 2 CAB alerts</a:t>
            </a:r>
          </a:p>
          <a:p>
            <a:r>
              <a:rPr lang="en-US" dirty="0"/>
              <a:t>ISS score less than 90</a:t>
            </a:r>
          </a:p>
          <a:p>
            <a:r>
              <a:rPr lang="en-US" dirty="0">
                <a:solidFill>
                  <a:srgbClr val="002060"/>
                </a:solidFill>
              </a:rPr>
              <a:t>Excluded Operations:</a:t>
            </a:r>
          </a:p>
          <a:p>
            <a:r>
              <a:rPr lang="en-US" dirty="0">
                <a:solidFill>
                  <a:srgbClr val="002060"/>
                </a:solidFill>
              </a:rPr>
              <a:t>Car leasing and rental operations</a:t>
            </a:r>
          </a:p>
          <a:p>
            <a:r>
              <a:rPr lang="en-US" dirty="0">
                <a:solidFill>
                  <a:srgbClr val="002060"/>
                </a:solidFill>
              </a:rPr>
              <a:t>Buses</a:t>
            </a:r>
          </a:p>
          <a:p>
            <a:r>
              <a:rPr lang="en-US" dirty="0">
                <a:solidFill>
                  <a:srgbClr val="002060"/>
                </a:solidFill>
              </a:rPr>
              <a:t>Hazardous materials carriers</a:t>
            </a:r>
          </a:p>
          <a:p>
            <a:r>
              <a:rPr lang="en-US" dirty="0">
                <a:solidFill>
                  <a:srgbClr val="002060"/>
                </a:solidFill>
              </a:rPr>
              <a:t>Maintenance vehicles</a:t>
            </a:r>
          </a:p>
          <a:p>
            <a:r>
              <a:rPr lang="en-US" dirty="0">
                <a:solidFill>
                  <a:srgbClr val="002060"/>
                </a:solidFill>
              </a:rPr>
              <a:t>Risks related to freight operations</a:t>
            </a:r>
          </a:p>
          <a:p>
            <a:r>
              <a:rPr lang="en-US" dirty="0">
                <a:solidFill>
                  <a:srgbClr val="002060"/>
                </a:solidFill>
              </a:rPr>
              <a:t>Risks related to the transport of munitions or explosives</a:t>
            </a:r>
          </a:p>
          <a:p>
            <a:r>
              <a:rPr lang="en-US" dirty="0">
                <a:solidFill>
                  <a:srgbClr val="002060"/>
                </a:solidFill>
              </a:rPr>
              <a:t>Transportation network companies</a:t>
            </a:r>
          </a:p>
          <a:p>
            <a:r>
              <a:rPr lang="en-US" dirty="0">
                <a:solidFill>
                  <a:srgbClr val="002060"/>
                </a:solidFill>
              </a:rPr>
              <a:t>Ambulances, firefighters, law enforcement, emergency medical services, </a:t>
            </a:r>
            <a:endParaRPr lang="en-US" dirty="0" smtClean="0">
              <a:solidFill>
                <a:srgbClr val="002060"/>
              </a:solidFill>
            </a:endParaRPr>
          </a:p>
          <a:p>
            <a:r>
              <a:rPr lang="en-US" dirty="0" smtClean="0">
                <a:solidFill>
                  <a:srgbClr val="002060"/>
                </a:solidFill>
              </a:rPr>
              <a:t>or </a:t>
            </a:r>
            <a:r>
              <a:rPr lang="en-US" dirty="0">
                <a:solidFill>
                  <a:srgbClr val="002060"/>
                </a:solidFill>
              </a:rPr>
              <a:t>other vehicles engaged in municipal activities</a:t>
            </a:r>
            <a:endParaRPr lang="en-US" dirty="0">
              <a:solidFill>
                <a:srgbClr val="002060"/>
              </a:solidFill>
            </a:endParaRPr>
          </a:p>
        </p:txBody>
      </p:sp>
    </p:spTree>
    <p:extLst>
      <p:ext uri="{BB962C8B-B14F-4D97-AF65-F5344CB8AC3E}">
        <p14:creationId xmlns:p14="http://schemas.microsoft.com/office/powerpoint/2010/main" val="4129648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California &amp; Texas Trucking Insurance Program</a:t>
            </a:r>
          </a:p>
        </p:txBody>
      </p:sp>
      <p:pic>
        <p:nvPicPr>
          <p:cNvPr id="1026" name="Picture 2" descr="Access and Deletion Rights Request Form - Paramount General Agency"/>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289280" y="5161280"/>
            <a:ext cx="2563963" cy="145224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45007" y="1888340"/>
            <a:ext cx="5823713" cy="3808735"/>
          </a:xfrm>
          <a:prstGeom prst="rect">
            <a:avLst/>
          </a:prstGeom>
          <a:noFill/>
        </p:spPr>
        <p:txBody>
          <a:bodyPr wrap="square" rtlCol="0">
            <a:spAutoFit/>
          </a:bodyPr>
          <a:lstStyle/>
          <a:p>
            <a:r>
              <a:rPr lang="es-ES" sz="1050" dirty="0"/>
              <a:t>El programa cubre la responsabilidad civil de automóviles comerciales para riesgos de transporte de camiones comerciales con domicilio en los estados de Texas y California, que operan en cumplimiento con el TLCAN o con la elegibilidad nacional. El programa del TLCAN se centra en los riesgos inherentes a la importación y exportación de mercancías a través de una zona de libre comercio designada de EE. UU., sin exposición transfronteriza. El programa nacional está dirigido a camioneros que transportan mercancías no peligrosas, como furgones secos, plataformas, refrigerados y otros productos, desde los estados designados por el programa hasta puntos dentro de Estados Unidos.</a:t>
            </a:r>
          </a:p>
          <a:p>
            <a:r>
              <a:rPr lang="es-ES" sz="1050" dirty="0"/>
              <a:t>Territorios: California, Texas.</a:t>
            </a:r>
          </a:p>
          <a:p>
            <a:r>
              <a:rPr lang="es-ES" sz="1050" dirty="0"/>
              <a:t>Radio: Local, Intermedio, Larga Distancia (radio límite de 2400 km en cuentas relacionadas con el TLCAN).</a:t>
            </a:r>
          </a:p>
          <a:p>
            <a:r>
              <a:rPr lang="es-ES" sz="1050" dirty="0"/>
              <a:t>Preferencias:</a:t>
            </a:r>
          </a:p>
          <a:p>
            <a:r>
              <a:rPr lang="es-ES" sz="1050" dirty="0"/>
              <a:t>2 años de experiencia en el sector (Nueva Empresa puede ser aceptable si el propietario/asegurado tiene al menos 3 años de experiencia en transporte comercial).</a:t>
            </a:r>
          </a:p>
          <a:p>
            <a:r>
              <a:rPr lang="es-ES" sz="1050" dirty="0"/>
              <a:t>Cuentas que transportan mercancías refrigeradas, furgones secos, plataformas o intermodales.</a:t>
            </a:r>
          </a:p>
          <a:p>
            <a:r>
              <a:rPr lang="es-ES" sz="1050" dirty="0"/>
              <a:t>Operaciones excluidas:</a:t>
            </a:r>
          </a:p>
          <a:p>
            <a:r>
              <a:rPr lang="es-ES" sz="1050" dirty="0"/>
              <a:t>Operaciones de arrendamiento y alquiler de automóviles.</a:t>
            </a:r>
          </a:p>
          <a:p>
            <a:r>
              <a:rPr lang="es-ES" sz="1050" dirty="0"/>
              <a:t>Autobuses.</a:t>
            </a:r>
          </a:p>
          <a:p>
            <a:r>
              <a:rPr lang="es-ES" sz="1050" dirty="0"/>
              <a:t>Transportistas de materiales peligrosos.</a:t>
            </a:r>
          </a:p>
          <a:p>
            <a:r>
              <a:rPr lang="es-ES" sz="1050" dirty="0"/>
              <a:t>Vehículos de transporte público.</a:t>
            </a:r>
          </a:p>
          <a:p>
            <a:r>
              <a:rPr lang="es-ES" sz="1050" dirty="0"/>
              <a:t>Riesgos relacionados con operaciones de transporte de mercancías.</a:t>
            </a:r>
          </a:p>
          <a:p>
            <a:r>
              <a:rPr lang="es-ES" sz="1050" dirty="0"/>
              <a:t>Riesgos relacionados con el transporte de municiones o explosivos.</a:t>
            </a:r>
          </a:p>
          <a:p>
            <a:r>
              <a:rPr lang="es-ES" sz="1050" dirty="0"/>
              <a:t>Empresas de la red de transporte.</a:t>
            </a:r>
          </a:p>
          <a:p>
            <a:r>
              <a:rPr lang="es-ES" sz="1050" dirty="0"/>
              <a:t>Ambulancias, bomberos, fuerzas del orden, servicios médicos de emergencia u otros vehículos dedicados a actividades municipales.</a:t>
            </a:r>
            <a:endParaRPr lang="en-US" sz="1050" dirty="0"/>
          </a:p>
        </p:txBody>
      </p:sp>
      <p:sp>
        <p:nvSpPr>
          <p:cNvPr id="4" name="TextBox 3"/>
          <p:cNvSpPr txBox="1"/>
          <p:nvPr/>
        </p:nvSpPr>
        <p:spPr>
          <a:xfrm>
            <a:off x="6642538" y="1868730"/>
            <a:ext cx="5737468" cy="2516073"/>
          </a:xfrm>
          <a:prstGeom prst="rect">
            <a:avLst/>
          </a:prstGeom>
          <a:noFill/>
        </p:spPr>
        <p:txBody>
          <a:bodyPr wrap="none" rtlCol="0">
            <a:spAutoFit/>
          </a:bodyPr>
          <a:lstStyle/>
          <a:p>
            <a:r>
              <a:rPr lang="es-ES" sz="1050" dirty="0"/>
              <a:t>Conductores: Vigente (dentro de los 30 días posteriores a la fecha de presentación) para todos </a:t>
            </a:r>
            <a:endParaRPr lang="es-ES" sz="1050" dirty="0" smtClean="0"/>
          </a:p>
          <a:p>
            <a:r>
              <a:rPr lang="es-ES" sz="1050" dirty="0" smtClean="0"/>
              <a:t>los </a:t>
            </a:r>
            <a:r>
              <a:rPr lang="es-ES" sz="1050" dirty="0"/>
              <a:t>conductores.</a:t>
            </a:r>
          </a:p>
          <a:p>
            <a:r>
              <a:rPr lang="es-ES" sz="1050" dirty="0"/>
              <a:t> Todos los conductores deben tener una Licencia de Conducir Comercial (CDL) vigente y válida, </a:t>
            </a:r>
            <a:endParaRPr lang="es-ES" sz="1050" dirty="0" smtClean="0"/>
          </a:p>
          <a:p>
            <a:r>
              <a:rPr lang="es-ES" sz="1050" dirty="0" smtClean="0"/>
              <a:t>emitida </a:t>
            </a:r>
            <a:r>
              <a:rPr lang="es-ES" sz="1050" dirty="0"/>
              <a:t>para el tipo de vehículo que se operará bajo la póliza. Se considerará la </a:t>
            </a:r>
            <a:r>
              <a:rPr lang="es-ES" sz="1050" dirty="0" smtClean="0"/>
              <a:t>solicitud</a:t>
            </a:r>
          </a:p>
          <a:p>
            <a:r>
              <a:rPr lang="es-ES" sz="1050" dirty="0" smtClean="0"/>
              <a:t> </a:t>
            </a:r>
            <a:r>
              <a:rPr lang="es-ES" sz="1050" dirty="0"/>
              <a:t>de conductores con una licencia internacional o extranjera con un MVR o documentación equivalente</a:t>
            </a:r>
            <a:r>
              <a:rPr lang="es-ES" sz="1050" dirty="0" smtClean="0"/>
              <a:t>.</a:t>
            </a:r>
          </a:p>
          <a:p>
            <a:r>
              <a:rPr lang="es-ES" sz="1050" dirty="0" smtClean="0"/>
              <a:t> </a:t>
            </a:r>
            <a:r>
              <a:rPr lang="es-ES" sz="1050" dirty="0"/>
              <a:t>Los conductores con licencias internacionales o extranjeras deben saber leer y escribir en inglés </a:t>
            </a:r>
            <a:endParaRPr lang="es-ES" sz="1050" dirty="0" smtClean="0"/>
          </a:p>
          <a:p>
            <a:r>
              <a:rPr lang="es-ES" sz="1050" dirty="0" smtClean="0"/>
              <a:t>y </a:t>
            </a:r>
            <a:r>
              <a:rPr lang="es-ES" sz="1050" dirty="0"/>
              <a:t>comprender las señales de tránsito y los boletines de viaje de Estados Unidos.</a:t>
            </a:r>
          </a:p>
          <a:p>
            <a:r>
              <a:rPr lang="es-ES" sz="1050" dirty="0"/>
              <a:t> Los conductores deben tener al menos 23 años de edad.</a:t>
            </a:r>
          </a:p>
          <a:p>
            <a:r>
              <a:rPr lang="es-ES" sz="1050" dirty="0"/>
              <a:t> Deben tener al menos 2 años completos de experiencia en conducción comercial.</a:t>
            </a:r>
          </a:p>
          <a:p>
            <a:r>
              <a:rPr lang="es-ES" sz="1050" dirty="0"/>
              <a:t> No más de 3 infracciones de tránsito en los últimos 36 meses. No más de 1 </a:t>
            </a:r>
            <a:r>
              <a:rPr lang="es-ES" sz="1050" dirty="0" smtClean="0"/>
              <a:t>accidente</a:t>
            </a:r>
          </a:p>
          <a:p>
            <a:r>
              <a:rPr lang="es-ES" sz="1050" dirty="0" smtClean="0"/>
              <a:t> </a:t>
            </a:r>
            <a:r>
              <a:rPr lang="es-ES" sz="1050" dirty="0"/>
              <a:t>con culpa en los últimos 36 meses. Todos los conductores deben estar inscritos en la póliza.</a:t>
            </a:r>
          </a:p>
          <a:p>
            <a:r>
              <a:rPr lang="es-ES" sz="1050" dirty="0"/>
              <a:t>Todos los conductores deben cumplir con los requisitos físicos mínimos exigidos por las regulaciones </a:t>
            </a:r>
            <a:endParaRPr lang="es-ES" sz="1050" dirty="0" smtClean="0"/>
          </a:p>
          <a:p>
            <a:r>
              <a:rPr lang="es-ES" sz="1050" dirty="0" smtClean="0"/>
              <a:t>federales </a:t>
            </a:r>
            <a:r>
              <a:rPr lang="es-ES" sz="1050" dirty="0"/>
              <a:t>del Departamento de Transporte (DOT) según el Título 49, Parte 391.41.</a:t>
            </a:r>
          </a:p>
          <a:p>
            <a:endParaRPr lang="es-ES" sz="1050" dirty="0"/>
          </a:p>
          <a:p>
            <a:r>
              <a:rPr lang="es-ES" sz="1050" dirty="0"/>
              <a:t>Los conductores mayores de 65 años deben presentar un certificado físico completo y vigente del DOT.</a:t>
            </a:r>
            <a:r>
              <a:rPr lang="en-US" sz="1050" dirty="0" smtClean="0"/>
              <a:t>.</a:t>
            </a:r>
            <a:endParaRPr lang="en-US" sz="1050" dirty="0"/>
          </a:p>
        </p:txBody>
      </p:sp>
    </p:spTree>
    <p:extLst>
      <p:ext uri="{BB962C8B-B14F-4D97-AF65-F5344CB8AC3E}">
        <p14:creationId xmlns:p14="http://schemas.microsoft.com/office/powerpoint/2010/main" val="1312726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DB Insurance</a:t>
            </a:r>
          </a:p>
        </p:txBody>
      </p:sp>
      <p:pic>
        <p:nvPicPr>
          <p:cNvPr id="1026" name="Picture 2" descr="Access and Deletion Rights Request Form - Paramount General Agency"/>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289280" y="5161280"/>
            <a:ext cx="2563963" cy="145224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25519" y="1608082"/>
            <a:ext cx="5854262" cy="5001369"/>
          </a:xfrm>
          <a:prstGeom prst="rect">
            <a:avLst/>
          </a:prstGeom>
          <a:noFill/>
        </p:spPr>
        <p:txBody>
          <a:bodyPr wrap="square" rtlCol="0">
            <a:spAutoFit/>
          </a:bodyPr>
          <a:lstStyle/>
          <a:p>
            <a:r>
              <a:rPr lang="es-MX" sz="1100" dirty="0" smtClean="0"/>
              <a:t> </a:t>
            </a:r>
            <a:r>
              <a:rPr lang="es-ES" sz="1100" dirty="0"/>
              <a:t>Territorios: Texas</a:t>
            </a:r>
          </a:p>
          <a:p>
            <a:r>
              <a:rPr lang="es-ES" sz="1100" dirty="0"/>
              <a:t>Radio: Local Intermedio Larga distancia (radio máximo de 2400 km)</a:t>
            </a:r>
          </a:p>
          <a:p>
            <a:r>
              <a:rPr lang="es-ES" sz="1100" dirty="0"/>
              <a:t>Preferiblemente con 3 años de experiencia</a:t>
            </a:r>
          </a:p>
          <a:p>
            <a:r>
              <a:rPr lang="es-ES" sz="1100" dirty="0"/>
              <a:t>Cualquier descripción de pérdidas, con o sin culpa, fatalidades</a:t>
            </a:r>
          </a:p>
          <a:p>
            <a:r>
              <a:rPr lang="es-ES" sz="1100" dirty="0"/>
              <a:t>1 año de experiencia con seguro vigente (historial laboral previo, con números DOT) con 5 unidades o menos</a:t>
            </a:r>
          </a:p>
          <a:p>
            <a:r>
              <a:rPr lang="es-ES" sz="1100" dirty="0"/>
              <a:t>Camiones de caja - Aprobación del transportista</a:t>
            </a:r>
          </a:p>
          <a:p>
            <a:r>
              <a:rPr lang="es-ES" sz="1100" dirty="0"/>
              <a:t>Se acepta licencia Clase C.</a:t>
            </a:r>
          </a:p>
          <a:p>
            <a:r>
              <a:rPr lang="es-ES" sz="1100" dirty="0"/>
              <a:t>Propietarios/Operadores: máximo 30% de la flota, la mayoría de las unidades propiedad de la entidad (obligatorio).</a:t>
            </a:r>
          </a:p>
          <a:p>
            <a:r>
              <a:rPr lang="es-ES" sz="1100" dirty="0"/>
              <a:t>¿Ha vendido/comprado el asegurado alguna unidad en los últimos 90 días que no esté incluida en la solicitud? Referencia del contrato de arrendamiento o BOS en la presentación.</a:t>
            </a:r>
          </a:p>
          <a:p>
            <a:r>
              <a:rPr lang="es-ES" sz="1100" dirty="0"/>
              <a:t>Productos: Preferiblemente</a:t>
            </a:r>
          </a:p>
          <a:p>
            <a:r>
              <a:rPr lang="es-ES" sz="1100" dirty="0"/>
              <a:t>Camión seco Refrigerado Intermodal</a:t>
            </a:r>
          </a:p>
          <a:p>
            <a:r>
              <a:rPr lang="es-ES" sz="1100" dirty="0"/>
              <a:t>Materiales de construcción:</a:t>
            </a:r>
          </a:p>
          <a:p>
            <a:r>
              <a:rPr lang="es-ES" sz="1100" dirty="0"/>
              <a:t>Materiales de construcción prohibidos</a:t>
            </a:r>
          </a:p>
          <a:p>
            <a:r>
              <a:rPr lang="es-ES" sz="1100" dirty="0"/>
              <a:t>a. Sobredimensionado/sobrepeso</a:t>
            </a:r>
          </a:p>
          <a:p>
            <a:r>
              <a:rPr lang="es-ES" sz="1100" dirty="0"/>
              <a:t>b. Troncos, madera de gran tamaño, postes, vigas, maquinaria pesada u objetos de gran tamaño</a:t>
            </a:r>
          </a:p>
          <a:p>
            <a:r>
              <a:rPr lang="es-ES" sz="1100" dirty="0"/>
              <a:t>c. Acero estructural, bobinas o rollos de chapa metálica</a:t>
            </a:r>
          </a:p>
          <a:p>
            <a:r>
              <a:rPr lang="es-ES" sz="1100" dirty="0"/>
              <a:t>d. Tuberías grandes o equipo petrolero</a:t>
            </a:r>
          </a:p>
          <a:p>
            <a:r>
              <a:rPr lang="es-ES" sz="1100" dirty="0"/>
              <a:t>Materiales de construcción aceptables:</a:t>
            </a:r>
          </a:p>
          <a:p>
            <a:r>
              <a:rPr lang="es-ES" sz="1100" dirty="0"/>
              <a:t>1) Madera fabricada estándar (2x4x8)</a:t>
            </a:r>
          </a:p>
          <a:p>
            <a:r>
              <a:rPr lang="es-ES" sz="1100" dirty="0"/>
              <a:t>2) Varillas de refuerzo y tuberías pequeñas, tuberías de PVC de no más de 3 metros (10 pies)</a:t>
            </a:r>
          </a:p>
          <a:p>
            <a:r>
              <a:rPr lang="es-ES" sz="1100" dirty="0"/>
              <a:t>3) Otros materiales de construcción pequeños y productos en cajas</a:t>
            </a:r>
          </a:p>
          <a:p>
            <a:r>
              <a:rPr lang="es-ES" sz="1100" dirty="0"/>
              <a:t>4) Los materiales de construcción en contenedores pueden tratarse como productos básicos si no representan un riesgo importante.</a:t>
            </a:r>
          </a:p>
          <a:p>
            <a:r>
              <a:rPr lang="es-ES" sz="1100" dirty="0"/>
              <a:t>Bobinas/rollos: Se considerarán con fotos de cómo se transportan/aseguran</a:t>
            </a:r>
          </a:p>
          <a:p>
            <a:r>
              <a:rPr lang="es-ES" sz="1100" dirty="0"/>
              <a:t>Prohibido el acceso a vehículos motorizados</a:t>
            </a:r>
          </a:p>
          <a:p>
            <a:r>
              <a:rPr lang="es-ES" sz="1100" dirty="0"/>
              <a:t>Prohibido el uso de basureros, reciclaje y basura</a:t>
            </a:r>
            <a:endParaRPr lang="en-US" sz="1100" dirty="0"/>
          </a:p>
        </p:txBody>
      </p:sp>
      <p:sp>
        <p:nvSpPr>
          <p:cNvPr id="4" name="TextBox 3"/>
          <p:cNvSpPr txBox="1"/>
          <p:nvPr/>
        </p:nvSpPr>
        <p:spPr>
          <a:xfrm>
            <a:off x="6725570" y="1286419"/>
            <a:ext cx="4165950" cy="3647152"/>
          </a:xfrm>
          <a:prstGeom prst="rect">
            <a:avLst/>
          </a:prstGeom>
          <a:noFill/>
        </p:spPr>
        <p:txBody>
          <a:bodyPr wrap="square" rtlCol="0">
            <a:spAutoFit/>
          </a:bodyPr>
          <a:lstStyle/>
          <a:p>
            <a:r>
              <a:rPr lang="es-ES" sz="1100" dirty="0"/>
              <a:t>Conductores:</a:t>
            </a:r>
          </a:p>
          <a:p>
            <a:r>
              <a:rPr lang="es-ES" sz="1100" dirty="0"/>
              <a:t>Lista del conductor, incluyendo fecha de nacimiento y número de licencia.</a:t>
            </a:r>
          </a:p>
          <a:p>
            <a:r>
              <a:rPr lang="es-ES" sz="1100" dirty="0"/>
              <a:t>Todos los conductores deben tener al menos tres años completos de licencia de conducir comercial (CDL) verificable. Conductores: 25 años/3 años de vencimiento. Sin excepciones.</a:t>
            </a:r>
          </a:p>
          <a:p>
            <a:r>
              <a:rPr lang="es-ES" sz="1100" dirty="0"/>
              <a:t>También se requieren los MVR del propietario si este no es conductor. Si se trata de una licencia de clase C, ¿se puede excluir al propietario? Un propietario con licencia de clase A no califica y no puede ser excluido. No cumple con los requisitos.</a:t>
            </a:r>
          </a:p>
          <a:p>
            <a:r>
              <a:rPr lang="es-ES" sz="1100" dirty="0"/>
              <a:t>Se aceptan copias de los MVR más recientes disponibles para fines de cotización.</a:t>
            </a:r>
          </a:p>
          <a:p>
            <a:r>
              <a:rPr lang="es-ES" sz="1100" dirty="0"/>
              <a:t>Se requieren MVR vigentes (valorados dentro de los últimos 90 días) para la vinculación, sujetos a revisión y aprobación de la suscripción.</a:t>
            </a:r>
          </a:p>
          <a:p>
            <a:r>
              <a:rPr lang="es-ES" sz="1100" dirty="0"/>
              <a:t>Todos los conductores deben tener un certificado médico válido, como se muestra en el MVR, o proporcionar un informe médico completo antes de conducir cualquier unidad motriz cubierta.</a:t>
            </a:r>
          </a:p>
          <a:p>
            <a:r>
              <a:rPr lang="es-ES" sz="1100" dirty="0"/>
              <a:t>Todos los conductores deben cumplir con los estándares de aceptabilidad para conductores aquí contenidos y con los requisitos estatales.</a:t>
            </a:r>
          </a:p>
          <a:p>
            <a:r>
              <a:rPr lang="es-ES" sz="1100" dirty="0"/>
              <a:t>No se aceptan conductores con licencias de conducir binacionales.</a:t>
            </a:r>
            <a:endParaRPr lang="en-US" sz="1100" dirty="0"/>
          </a:p>
        </p:txBody>
      </p:sp>
      <p:sp>
        <p:nvSpPr>
          <p:cNvPr id="6" name="TextBox 5"/>
          <p:cNvSpPr txBox="1"/>
          <p:nvPr/>
        </p:nvSpPr>
        <p:spPr>
          <a:xfrm>
            <a:off x="6725570" y="5009474"/>
            <a:ext cx="3576670" cy="738664"/>
          </a:xfrm>
          <a:prstGeom prst="rect">
            <a:avLst/>
          </a:prstGeom>
          <a:noFill/>
        </p:spPr>
        <p:txBody>
          <a:bodyPr wrap="square" rtlCol="0">
            <a:spAutoFit/>
          </a:bodyPr>
          <a:lstStyle/>
          <a:p>
            <a:r>
              <a:rPr lang="en-US" sz="1400" dirty="0" smtClean="0"/>
              <a:t>No coils</a:t>
            </a:r>
          </a:p>
          <a:p>
            <a:r>
              <a:rPr lang="en-US" sz="1400" dirty="0" smtClean="0"/>
              <a:t>No </a:t>
            </a:r>
            <a:r>
              <a:rPr lang="en-US" sz="1400" dirty="0" err="1" smtClean="0"/>
              <a:t>algodon</a:t>
            </a:r>
            <a:endParaRPr lang="en-US" sz="1400" dirty="0" smtClean="0"/>
          </a:p>
          <a:p>
            <a:r>
              <a:rPr lang="es-MX" sz="1400" dirty="0" smtClean="0"/>
              <a:t>No </a:t>
            </a:r>
            <a:r>
              <a:rPr lang="es-MX" sz="1400" dirty="0" err="1" smtClean="0"/>
              <a:t>oregon</a:t>
            </a:r>
            <a:r>
              <a:rPr lang="es-MX" sz="1400" dirty="0" smtClean="0"/>
              <a:t> ni </a:t>
            </a:r>
            <a:r>
              <a:rPr lang="en-US" sz="1400" dirty="0" err="1" smtClean="0"/>
              <a:t>washington</a:t>
            </a:r>
            <a:endParaRPr lang="en-US" sz="1400" dirty="0"/>
          </a:p>
        </p:txBody>
      </p:sp>
    </p:spTree>
    <p:extLst>
      <p:ext uri="{BB962C8B-B14F-4D97-AF65-F5344CB8AC3E}">
        <p14:creationId xmlns:p14="http://schemas.microsoft.com/office/powerpoint/2010/main" val="275154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Contactos </a:t>
            </a:r>
            <a:r>
              <a:rPr lang="es-MX" dirty="0" err="1"/>
              <a:t>via</a:t>
            </a:r>
            <a:r>
              <a:rPr lang="es-MX" dirty="0"/>
              <a:t> </a:t>
            </a:r>
            <a:r>
              <a:rPr lang="es-MX" dirty="0" smtClean="0"/>
              <a:t>email &amp; SITIO WEB</a:t>
            </a:r>
            <a:endParaRPr lang="en-US" dirty="0"/>
          </a:p>
        </p:txBody>
      </p:sp>
      <p:pic>
        <p:nvPicPr>
          <p:cNvPr id="1026" name="Picture 2" descr="Access and Deletion Rights Request Form - Paramount General Agency"/>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289280" y="5161280"/>
            <a:ext cx="2563963" cy="1452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78559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43</TotalTime>
  <Words>1213</Words>
  <Application>Microsoft Office PowerPoint</Application>
  <PresentationFormat>Widescreen</PresentationFormat>
  <Paragraphs>117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Tw Cen MT</vt:lpstr>
      <vt:lpstr>Tw Cen MT Condensed</vt:lpstr>
      <vt:lpstr>Wingdings 3</vt:lpstr>
      <vt:lpstr>Integral</vt:lpstr>
      <vt:lpstr>Paramount </vt:lpstr>
      <vt:lpstr>Carriers </vt:lpstr>
      <vt:lpstr>Radio de operacion</vt:lpstr>
      <vt:lpstr>Drivers / unidades</vt:lpstr>
      <vt:lpstr>Coberturas</vt:lpstr>
      <vt:lpstr>additional &amp; wos</vt:lpstr>
      <vt:lpstr>Agricultural Workers Mutual Auto Insurance</vt:lpstr>
      <vt:lpstr>California &amp; Texas Trucking Insurance Program</vt:lpstr>
      <vt:lpstr>DB Insurance</vt:lpstr>
      <vt:lpstr>Contactos via email &amp; SITIO WEB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Paramount </dc:title>
  <dc:creator>pp</dc:creator>
  <cp:lastModifiedBy>pp</cp:lastModifiedBy>
  <cp:revision>5</cp:revision>
  <dcterms:created xsi:type="dcterms:W3CDTF">2025-05-27T17:49:18Z</dcterms:created>
  <dcterms:modified xsi:type="dcterms:W3CDTF">2025-10-09T21:18:11Z</dcterms:modified>
</cp:coreProperties>
</file>