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8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FE49EE4-6040-463F-97DF-260D747930E4}"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1580083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E49EE4-6040-463F-97DF-260D747930E4}"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2475487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FE49EE4-6040-463F-97DF-260D747930E4}"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601825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FE49EE4-6040-463F-97DF-260D747930E4}" type="datetimeFigureOut">
              <a:rPr lang="en-US" smtClean="0"/>
              <a:t>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3663665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FE49EE4-6040-463F-97DF-260D747930E4}" type="datetimeFigureOut">
              <a:rPr lang="en-US" smtClean="0"/>
              <a:t>10/4/2025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112544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FE49EE4-6040-463F-97DF-260D747930E4}" type="datetimeFigureOut">
              <a:rPr lang="en-US" smtClean="0"/>
              <a:t>10/4/2025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782959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E49EE4-6040-463F-97DF-260D747930E4}" type="datetimeFigureOut">
              <a:rPr lang="en-US" smtClean="0"/>
              <a:t>10/4/2025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342324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FE49EE4-6040-463F-97DF-260D747930E4}" type="datetimeFigureOut">
              <a:rPr lang="en-US" smtClean="0"/>
              <a:t>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3756355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6399212" y="5883275"/>
            <a:ext cx="914400" cy="365125"/>
          </a:xfrm>
        </p:spPr>
        <p:txBody>
          <a:bodyPr/>
          <a:lstStyle/>
          <a:p>
            <a:fld id="{0FE49EE4-6040-463F-97DF-260D747930E4}" type="datetimeFigureOut">
              <a:rPr lang="en-US" smtClean="0"/>
              <a:t>10/4/2025</a:t>
            </a:fld>
            <a:endParaRPr lang="en-US"/>
          </a:p>
        </p:txBody>
      </p:sp>
      <p:sp>
        <p:nvSpPr>
          <p:cNvPr id="6" name="Footer Placeholder 5"/>
          <p:cNvSpPr>
            <a:spLocks noGrp="1"/>
          </p:cNvSpPr>
          <p:nvPr>
            <p:ph type="ftr" sz="quarter" idx="11"/>
          </p:nvPr>
        </p:nvSpPr>
        <p:spPr>
          <a:xfrm>
            <a:off x="1141412" y="5883275"/>
            <a:ext cx="5105400" cy="365125"/>
          </a:xfrm>
        </p:spPr>
        <p:txBody>
          <a:bodyPr/>
          <a:lstStyle/>
          <a:p>
            <a:endParaRPr lang="en-US"/>
          </a:p>
        </p:txBody>
      </p:sp>
      <p:sp>
        <p:nvSpPr>
          <p:cNvPr id="7" name="Slide Number Placeholder 6"/>
          <p:cNvSpPr>
            <a:spLocks noGrp="1"/>
          </p:cNvSpPr>
          <p:nvPr>
            <p:ph type="sldNum" sz="quarter" idx="12"/>
          </p:nvPr>
        </p:nvSpPr>
        <p:spPr>
          <a:xfrm>
            <a:off x="10742612" y="5883275"/>
            <a:ext cx="322567" cy="365125"/>
          </a:xfrm>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2350609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FE49EE4-6040-463F-97DF-260D747930E4}" type="datetimeFigureOut">
              <a:rPr lang="en-US" smtClean="0"/>
              <a:t>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2836913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FE49EE4-6040-463F-97DF-260D747930E4}"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3674770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smtClean="0"/>
              <a:t>Edit Master text styles</a:t>
            </a:r>
          </a:p>
        </p:txBody>
      </p:sp>
      <p:sp>
        <p:nvSpPr>
          <p:cNvPr id="4" name="Date Placeholder 3"/>
          <p:cNvSpPr>
            <a:spLocks noGrp="1"/>
          </p:cNvSpPr>
          <p:nvPr>
            <p:ph type="dt" sz="half" idx="10"/>
          </p:nvPr>
        </p:nvSpPr>
        <p:spPr/>
        <p:txBody>
          <a:bodyPr/>
          <a:lstStyle/>
          <a:p>
            <a:fld id="{0FE49EE4-6040-463F-97DF-260D747930E4}"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22324760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smtClean="0"/>
              <a:t>Edit Master text styles</a:t>
            </a:r>
          </a:p>
        </p:txBody>
      </p:sp>
      <p:sp>
        <p:nvSpPr>
          <p:cNvPr id="4" name="Date Placeholder 3"/>
          <p:cNvSpPr>
            <a:spLocks noGrp="1"/>
          </p:cNvSpPr>
          <p:nvPr>
            <p:ph type="dt" sz="half" idx="10"/>
          </p:nvPr>
        </p:nvSpPr>
        <p:spPr/>
        <p:txBody>
          <a:bodyPr/>
          <a:lstStyle/>
          <a:p>
            <a:fld id="{0FE49EE4-6040-463F-97DF-260D747930E4}"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17665962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FE49EE4-6040-463F-97DF-260D747930E4}"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26142699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FE49EE4-6040-463F-97DF-260D747930E4}"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11170716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E49EE4-6040-463F-97DF-260D747930E4}"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3425198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E49EE4-6040-463F-97DF-260D747930E4}"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1423326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0FE49EE4-6040-463F-97DF-260D747930E4}" type="datetimeFigureOut">
              <a:rPr lang="en-US" smtClean="0"/>
              <a:t>10/4/2025</a:t>
            </a:fld>
            <a:endParaRPr lang="en-US"/>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9A805CB1-F409-49AC-A279-FFB87070BCD7}" type="slidenum">
              <a:rPr lang="en-US" smtClean="0"/>
              <a:t>‹#›</a:t>
            </a:fld>
            <a:endParaRPr lang="en-US"/>
          </a:p>
        </p:txBody>
      </p:sp>
    </p:spTree>
    <p:extLst>
      <p:ext uri="{BB962C8B-B14F-4D97-AF65-F5344CB8AC3E}">
        <p14:creationId xmlns:p14="http://schemas.microsoft.com/office/powerpoint/2010/main" val="1854598571"/>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s-MX" dirty="0" smtClean="0"/>
              <a:t>MGA </a:t>
            </a:r>
            <a:endParaRPr lang="en-US" dirty="0"/>
          </a:p>
        </p:txBody>
      </p:sp>
      <p:pic>
        <p:nvPicPr>
          <p:cNvPr id="1028" name="Picture 4" descr="Get Progressive Insurance through Continental Insuranc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17823" y="4960137"/>
            <a:ext cx="2997200" cy="1654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6981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smtClean="0">
                <a:latin typeface="Arial Narrow" panose="020B0606020202030204" pitchFamily="34" charset="0"/>
              </a:rPr>
              <a:t>Carriers</a:t>
            </a:r>
            <a:r>
              <a:rPr lang="es-MX" dirty="0" smtClean="0"/>
              <a:t> </a:t>
            </a:r>
            <a:endParaRPr lang="en-US" dirty="0"/>
          </a:p>
        </p:txBody>
      </p:sp>
      <p:sp>
        <p:nvSpPr>
          <p:cNvPr id="3" name="Content Placeholder 2"/>
          <p:cNvSpPr>
            <a:spLocks noGrp="1"/>
          </p:cNvSpPr>
          <p:nvPr>
            <p:ph idx="1"/>
          </p:nvPr>
        </p:nvSpPr>
        <p:spPr/>
        <p:txBody>
          <a:bodyPr/>
          <a:lstStyle/>
          <a:p>
            <a:r>
              <a:rPr lang="es-MX" dirty="0" smtClean="0"/>
              <a:t>PROGRESSIVE</a:t>
            </a:r>
          </a:p>
          <a:p>
            <a:endParaRPr lang="en-US" dirty="0"/>
          </a:p>
        </p:txBody>
      </p:sp>
      <p:sp>
        <p:nvSpPr>
          <p:cNvPr id="4" name="AutoShape 2" descr="QEO on the App Stor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QEO on the App Stor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4" descr="Get Progressive Insurance through Continental Insuranc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17823" y="4960137"/>
            <a:ext cx="2997200" cy="1654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2378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smtClean="0"/>
              <a:t>Radio de </a:t>
            </a:r>
            <a:r>
              <a:rPr lang="es-MX" dirty="0" smtClean="0"/>
              <a:t>operación</a:t>
            </a:r>
            <a:endParaRPr lang="en-US" dirty="0"/>
          </a:p>
        </p:txBody>
      </p:sp>
      <p:sp>
        <p:nvSpPr>
          <p:cNvPr id="3" name="Content Placeholder 2"/>
          <p:cNvSpPr>
            <a:spLocks noGrp="1"/>
          </p:cNvSpPr>
          <p:nvPr>
            <p:ph idx="1"/>
          </p:nvPr>
        </p:nvSpPr>
        <p:spPr>
          <a:xfrm>
            <a:off x="1049973" y="2077719"/>
            <a:ext cx="9905998" cy="3124201"/>
          </a:xfrm>
        </p:spPr>
        <p:txBody>
          <a:bodyPr/>
          <a:lstStyle/>
          <a:p>
            <a:r>
              <a:rPr lang="es-ES" dirty="0"/>
              <a:t>RADIUS GUIDELINES </a:t>
            </a:r>
          </a:p>
          <a:p>
            <a:r>
              <a:rPr lang="es-ES" dirty="0"/>
              <a:t>Nuestra opción de radio ilimitado está disponible para todo tipo de vehículo. Las pólizas de Responsabilidad Civil No Transportista, Solo Daños Físicos y de Uso No Comercial también pueden tener un radio ilimitado. Si se selecciona otra opción de radio, se espera un mínimo de viajes (10 % o menos) que excedan el radio seleccionado. Las pólizas que excedan el radio con mayor frecuencia están sujetas a auditoría o aumento de la prima. Progressive cobrará y aplicará la tarifa según el kilometraje anual esperado. Es posible que se requiera comprobante.</a:t>
            </a:r>
            <a:endParaRPr lang="en-US" dirty="0"/>
          </a:p>
          <a:p>
            <a:endParaRPr lang="en-US" dirty="0"/>
          </a:p>
        </p:txBody>
      </p:sp>
      <p:pic>
        <p:nvPicPr>
          <p:cNvPr id="5" name="Picture 4" descr="Get Progressive Insurance through Continental Insuranc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17823" y="4960137"/>
            <a:ext cx="2997200" cy="1654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3404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Drivers / unidades</a:t>
            </a:r>
            <a:endParaRPr lang="en-US" dirty="0"/>
          </a:p>
        </p:txBody>
      </p:sp>
      <p:sp>
        <p:nvSpPr>
          <p:cNvPr id="3" name="Content Placeholder 2"/>
          <p:cNvSpPr>
            <a:spLocks noGrp="1"/>
          </p:cNvSpPr>
          <p:nvPr>
            <p:ph idx="1"/>
          </p:nvPr>
        </p:nvSpPr>
        <p:spPr>
          <a:xfrm>
            <a:off x="526289" y="1764182"/>
            <a:ext cx="4360672" cy="4023360"/>
          </a:xfrm>
        </p:spPr>
        <p:txBody>
          <a:bodyPr>
            <a:normAutofit fontScale="70000" lnSpcReduction="20000"/>
          </a:bodyPr>
          <a:lstStyle/>
          <a:p>
            <a:r>
              <a:rPr lang="es-ES" dirty="0"/>
              <a:t>INSTRUCCIONES PARA CONDUCTORES</a:t>
            </a:r>
          </a:p>
          <a:p>
            <a:r>
              <a:rPr lang="es-ES" dirty="0"/>
              <a:t>Toda persona que conduzca o se espere que conduzca un vehículo cubierto por la póliza, en cualquier función durante la vigencia de la misma, debe ser un conductor registrado y calificado. La frecuencia con la que conduzca no importa.</a:t>
            </a:r>
          </a:p>
          <a:p>
            <a:r>
              <a:rPr lang="es-ES" dirty="0"/>
              <a:t>Nota: En algunos estados, los conductores pueden estar excluidos de la cobertura.</a:t>
            </a:r>
          </a:p>
          <a:p>
            <a:r>
              <a:rPr lang="es-ES" dirty="0"/>
              <a:t>Si bien puede haber demoras en agregar un nuevo conductor, se recomienda agregarlo a la póliza lo antes posible. Si una pérdida cubierta involucra a un conductor que no figura en la póliza, realizaremos una investigación para confirmar que no hubo tergiversación intencional ni fraude. Además, agregaremos a ese conductor a la póliza, a menos que el cliente solicite la exclusión (si está permitida) o pueda proporcionar un comprobante de la cancelación.</a:t>
            </a:r>
            <a:endParaRPr lang="en-US" dirty="0"/>
          </a:p>
        </p:txBody>
      </p:sp>
      <p:pic>
        <p:nvPicPr>
          <p:cNvPr id="5" name="Picture 4" descr="Get Progressive Insurance through Continental Insuranc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17823" y="4960137"/>
            <a:ext cx="2997200" cy="1654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0195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Coberturas</a:t>
            </a:r>
            <a:endParaRPr lang="en-US" dirty="0"/>
          </a:p>
        </p:txBody>
      </p:sp>
      <p:sp>
        <p:nvSpPr>
          <p:cNvPr id="3" name="Content Placeholder 2"/>
          <p:cNvSpPr>
            <a:spLocks noGrp="1"/>
          </p:cNvSpPr>
          <p:nvPr>
            <p:ph idx="1"/>
          </p:nvPr>
        </p:nvSpPr>
        <p:spPr>
          <a:xfrm>
            <a:off x="798068" y="1764181"/>
            <a:ext cx="5419852" cy="4850765"/>
          </a:xfrm>
        </p:spPr>
        <p:txBody>
          <a:bodyPr/>
          <a:lstStyle/>
          <a:p>
            <a:r>
              <a:rPr lang="en-US" dirty="0"/>
              <a:t>BODILY INJURY/PROPERTY DAMAGE COVERAGE (BI/PD</a:t>
            </a:r>
            <a:r>
              <a:rPr lang="en-US" dirty="0" smtClean="0"/>
              <a:t>)</a:t>
            </a:r>
          </a:p>
          <a:p>
            <a:r>
              <a:rPr lang="en-US" dirty="0"/>
              <a:t>UNINSURED MOTORIST PROPERTY DAMAGE COVERAGE (UMPD) </a:t>
            </a:r>
            <a:endParaRPr lang="en-US" dirty="0" smtClean="0"/>
          </a:p>
          <a:p>
            <a:r>
              <a:rPr lang="en-US" dirty="0"/>
              <a:t>UNINSURED/UNDERINSURED MOTORISTS COVERAGE (</a:t>
            </a:r>
            <a:r>
              <a:rPr lang="en-US" dirty="0" smtClean="0"/>
              <a:t>UM/UIM</a:t>
            </a:r>
          </a:p>
          <a:p>
            <a:r>
              <a:rPr lang="en-US" dirty="0"/>
              <a:t>PHYSICAL DAMAGE </a:t>
            </a:r>
            <a:r>
              <a:rPr lang="en-US" dirty="0" smtClean="0"/>
              <a:t>COVERAGE</a:t>
            </a:r>
          </a:p>
          <a:p>
            <a:r>
              <a:rPr lang="en-US" dirty="0"/>
              <a:t>MOTOR TRUCK CARGO LEGAL LIABILITY COVERAGE </a:t>
            </a:r>
            <a:endParaRPr lang="en-US" dirty="0" smtClean="0"/>
          </a:p>
          <a:p>
            <a:r>
              <a:rPr lang="en-US" dirty="0"/>
              <a:t>MOTOR TRUCK CARGO REFRIGERATION BREAKDOWN </a:t>
            </a:r>
            <a:r>
              <a:rPr lang="en-US" dirty="0" smtClean="0"/>
              <a:t>COVERAGE</a:t>
            </a:r>
          </a:p>
          <a:p>
            <a:r>
              <a:rPr lang="en-US" dirty="0"/>
              <a:t>TRAILER INTERCHANGE COVERAGE</a:t>
            </a:r>
          </a:p>
        </p:txBody>
      </p:sp>
      <p:pic>
        <p:nvPicPr>
          <p:cNvPr id="5" name="Picture 4" descr="Get Progressive Insurance through Continental Insuranc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17823" y="4960137"/>
            <a:ext cx="2997200" cy="1654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199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err="1"/>
              <a:t>additional</a:t>
            </a:r>
            <a:r>
              <a:rPr lang="es-MX" dirty="0"/>
              <a:t> &amp; </a:t>
            </a:r>
            <a:r>
              <a:rPr lang="es-MX" dirty="0" err="1"/>
              <a:t>wos</a:t>
            </a:r>
            <a:endParaRPr lang="en-US" dirty="0"/>
          </a:p>
        </p:txBody>
      </p:sp>
      <p:sp>
        <p:nvSpPr>
          <p:cNvPr id="3" name="Content Placeholder 2"/>
          <p:cNvSpPr>
            <a:spLocks noGrp="1"/>
          </p:cNvSpPr>
          <p:nvPr>
            <p:ph idx="1"/>
          </p:nvPr>
        </p:nvSpPr>
        <p:spPr>
          <a:xfrm>
            <a:off x="841248" y="1584960"/>
            <a:ext cx="9720073" cy="4023360"/>
          </a:xfrm>
        </p:spPr>
        <p:txBody>
          <a:bodyPr>
            <a:normAutofit fontScale="85000" lnSpcReduction="20000"/>
          </a:bodyPr>
          <a:lstStyle/>
          <a:p>
            <a:r>
              <a:rPr lang="en-US" dirty="0">
                <a:solidFill>
                  <a:srgbClr val="FFC000"/>
                </a:solidFill>
              </a:rPr>
              <a:t>ADDITIONAL INSURED ENDORSEMENT </a:t>
            </a:r>
            <a:endParaRPr lang="en-US" dirty="0" smtClean="0">
              <a:solidFill>
                <a:srgbClr val="FFC000"/>
              </a:solidFill>
            </a:endParaRPr>
          </a:p>
          <a:p>
            <a:r>
              <a:rPr lang="en-US" dirty="0" smtClean="0">
                <a:solidFill>
                  <a:srgbClr val="FFC000"/>
                </a:solidFill>
              </a:rPr>
              <a:t>An </a:t>
            </a:r>
            <a:r>
              <a:rPr lang="en-US" dirty="0">
                <a:solidFill>
                  <a:srgbClr val="FFC000"/>
                </a:solidFill>
              </a:rPr>
              <a:t>additional insured is a listed person, entity or corporation who shares many of the rights of the named insured. </a:t>
            </a:r>
            <a:endParaRPr lang="en-US" dirty="0" smtClean="0">
              <a:solidFill>
                <a:srgbClr val="FFC000"/>
              </a:solidFill>
            </a:endParaRPr>
          </a:p>
          <a:p>
            <a:r>
              <a:rPr lang="en-US" dirty="0" smtClean="0">
                <a:solidFill>
                  <a:srgbClr val="FFC000"/>
                </a:solidFill>
              </a:rPr>
              <a:t>• </a:t>
            </a:r>
            <a:r>
              <a:rPr lang="en-US" dirty="0">
                <a:solidFill>
                  <a:srgbClr val="FFC000"/>
                </a:solidFill>
              </a:rPr>
              <a:t>Considered primary insurance. </a:t>
            </a:r>
            <a:endParaRPr lang="en-US" dirty="0" smtClean="0">
              <a:solidFill>
                <a:srgbClr val="FFC000"/>
              </a:solidFill>
            </a:endParaRPr>
          </a:p>
          <a:p>
            <a:r>
              <a:rPr lang="en-US" dirty="0" smtClean="0">
                <a:solidFill>
                  <a:srgbClr val="FFC000"/>
                </a:solidFill>
              </a:rPr>
              <a:t>• </a:t>
            </a:r>
            <a:r>
              <a:rPr lang="en-US" dirty="0">
                <a:solidFill>
                  <a:srgbClr val="FFC000"/>
                </a:solidFill>
              </a:rPr>
              <a:t>An unlimited number of additional insureds may be listed on a policy, but a </a:t>
            </a:r>
            <a:r>
              <a:rPr lang="en-US" dirty="0" err="1">
                <a:solidFill>
                  <a:srgbClr val="FFC000"/>
                </a:solidFill>
              </a:rPr>
              <a:t>fullyearned</a:t>
            </a:r>
            <a:r>
              <a:rPr lang="en-US" dirty="0">
                <a:solidFill>
                  <a:srgbClr val="FFC000"/>
                </a:solidFill>
              </a:rPr>
              <a:t> fee ($20/annual policy; $15/six-month policy) is charged for each of the first five listed on the policy. </a:t>
            </a:r>
            <a:endParaRPr lang="en-US" dirty="0" smtClean="0">
              <a:solidFill>
                <a:srgbClr val="FFC000"/>
              </a:solidFill>
            </a:endParaRPr>
          </a:p>
          <a:p>
            <a:r>
              <a:rPr lang="en-US" dirty="0" smtClean="0">
                <a:solidFill>
                  <a:srgbClr val="FFC000"/>
                </a:solidFill>
              </a:rPr>
              <a:t>WAIVER </a:t>
            </a:r>
            <a:r>
              <a:rPr lang="en-US" dirty="0">
                <a:solidFill>
                  <a:srgbClr val="FFC000"/>
                </a:solidFill>
              </a:rPr>
              <a:t>OF SUBROGATION ENDORSEMENT </a:t>
            </a:r>
            <a:endParaRPr lang="en-US" dirty="0" smtClean="0">
              <a:solidFill>
                <a:srgbClr val="FFC000"/>
              </a:solidFill>
            </a:endParaRPr>
          </a:p>
          <a:p>
            <a:r>
              <a:rPr lang="en-US" dirty="0" smtClean="0">
                <a:solidFill>
                  <a:srgbClr val="FFC000"/>
                </a:solidFill>
              </a:rPr>
              <a:t>Waiver </a:t>
            </a:r>
            <a:r>
              <a:rPr lang="en-US" dirty="0">
                <a:solidFill>
                  <a:srgbClr val="FFC000"/>
                </a:solidFill>
              </a:rPr>
              <a:t>of Subrogation is an endorsement that eliminates Progressive’s ability to recover losses from a third party. </a:t>
            </a:r>
            <a:endParaRPr lang="en-US" dirty="0" smtClean="0">
              <a:solidFill>
                <a:srgbClr val="FFC000"/>
              </a:solidFill>
            </a:endParaRPr>
          </a:p>
          <a:p>
            <a:r>
              <a:rPr lang="en-US" dirty="0" smtClean="0">
                <a:solidFill>
                  <a:srgbClr val="FFC000"/>
                </a:solidFill>
              </a:rPr>
              <a:t>• </a:t>
            </a:r>
            <a:r>
              <a:rPr lang="en-US" dirty="0">
                <a:solidFill>
                  <a:srgbClr val="FFC000"/>
                </a:solidFill>
              </a:rPr>
              <a:t>Frequently used in temporary contracting situations</a:t>
            </a:r>
            <a:r>
              <a:rPr lang="en-US" dirty="0" smtClean="0">
                <a:solidFill>
                  <a:srgbClr val="FFC000"/>
                </a:solidFill>
              </a:rPr>
              <a:t>.</a:t>
            </a:r>
          </a:p>
          <a:p>
            <a:r>
              <a:rPr lang="en-US" dirty="0" smtClean="0">
                <a:solidFill>
                  <a:srgbClr val="FFC000"/>
                </a:solidFill>
              </a:rPr>
              <a:t> </a:t>
            </a:r>
            <a:r>
              <a:rPr lang="en-US" dirty="0">
                <a:solidFill>
                  <a:srgbClr val="FFC000"/>
                </a:solidFill>
              </a:rPr>
              <a:t>• $25 fully-earned fee for each of the first five listed on the policy. </a:t>
            </a:r>
            <a:endParaRPr lang="en-US" dirty="0" smtClean="0">
              <a:solidFill>
                <a:srgbClr val="FFC000"/>
              </a:solidFill>
            </a:endParaRPr>
          </a:p>
          <a:p>
            <a:r>
              <a:rPr lang="en-US" dirty="0" smtClean="0">
                <a:solidFill>
                  <a:srgbClr val="FFC000"/>
                </a:solidFill>
              </a:rPr>
              <a:t>• </a:t>
            </a:r>
            <a:r>
              <a:rPr lang="en-US" dirty="0">
                <a:solidFill>
                  <a:srgbClr val="FFC000"/>
                </a:solidFill>
              </a:rPr>
              <a:t>Add during the quote, or via the servicing screens on an in-force policy</a:t>
            </a:r>
          </a:p>
        </p:txBody>
      </p:sp>
      <p:pic>
        <p:nvPicPr>
          <p:cNvPr id="5" name="Picture 4" descr="Get Progressive Insurance through Continental Insuranc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17823" y="4960137"/>
            <a:ext cx="2997200" cy="1654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3623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BUSINESS AUTO</a:t>
            </a:r>
          </a:p>
        </p:txBody>
      </p:sp>
      <p:sp>
        <p:nvSpPr>
          <p:cNvPr id="3" name="Content Placeholder 2"/>
          <p:cNvSpPr>
            <a:spLocks noGrp="1"/>
          </p:cNvSpPr>
          <p:nvPr>
            <p:ph idx="1"/>
          </p:nvPr>
        </p:nvSpPr>
        <p:spPr>
          <a:xfrm>
            <a:off x="1024129" y="1757680"/>
            <a:ext cx="3456431" cy="4551680"/>
          </a:xfrm>
        </p:spPr>
        <p:txBody>
          <a:bodyPr>
            <a:normAutofit fontScale="92500" lnSpcReduction="20000"/>
          </a:bodyPr>
          <a:lstStyle/>
          <a:p>
            <a:r>
              <a:rPr lang="en-US" dirty="0" smtClean="0"/>
              <a:t>Courier</a:t>
            </a:r>
          </a:p>
          <a:p>
            <a:r>
              <a:rPr lang="en-US" dirty="0"/>
              <a:t>Farming &amp; Livestock </a:t>
            </a:r>
            <a:endParaRPr lang="en-US" dirty="0" smtClean="0"/>
          </a:p>
          <a:p>
            <a:r>
              <a:rPr lang="en-US" dirty="0"/>
              <a:t>Food </a:t>
            </a:r>
            <a:r>
              <a:rPr lang="en-US" dirty="0" smtClean="0"/>
              <a:t>Delivery</a:t>
            </a:r>
          </a:p>
          <a:p>
            <a:r>
              <a:rPr lang="en-US" dirty="0"/>
              <a:t>For-Hire Livery: Black </a:t>
            </a:r>
            <a:r>
              <a:rPr lang="en-US" dirty="0" smtClean="0"/>
              <a:t>Car/Limo</a:t>
            </a:r>
          </a:p>
          <a:p>
            <a:r>
              <a:rPr lang="en-US" dirty="0"/>
              <a:t>For-Hire Livery: </a:t>
            </a:r>
            <a:r>
              <a:rPr lang="en-US" dirty="0" smtClean="0"/>
              <a:t>Taxi</a:t>
            </a:r>
          </a:p>
          <a:p>
            <a:r>
              <a:rPr lang="en-US" dirty="0" smtClean="0"/>
              <a:t>Non-Business</a:t>
            </a:r>
          </a:p>
          <a:p>
            <a:r>
              <a:rPr lang="en-US" dirty="0"/>
              <a:t>Passenger Transportation (Not for Hire</a:t>
            </a:r>
            <a:r>
              <a:rPr lang="en-US" dirty="0" smtClean="0"/>
              <a:t>)</a:t>
            </a:r>
          </a:p>
          <a:p>
            <a:r>
              <a:rPr lang="en-US" dirty="0" smtClean="0"/>
              <a:t>Restaurants</a:t>
            </a:r>
          </a:p>
          <a:p>
            <a:r>
              <a:rPr lang="en-US" dirty="0"/>
              <a:t>Retail Trade </a:t>
            </a:r>
            <a:r>
              <a:rPr lang="en-US" dirty="0" smtClean="0"/>
              <a:t>Operations</a:t>
            </a:r>
          </a:p>
          <a:p>
            <a:r>
              <a:rPr lang="en-US" dirty="0" smtClean="0"/>
              <a:t>Services</a:t>
            </a:r>
          </a:p>
          <a:p>
            <a:r>
              <a:rPr lang="en-US" dirty="0"/>
              <a:t>Wholesale Trade</a:t>
            </a:r>
          </a:p>
        </p:txBody>
      </p:sp>
      <p:pic>
        <p:nvPicPr>
          <p:cNvPr id="5" name="Picture 4" descr="Get Progressive Insurance through Continental Insuranc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17823" y="4960137"/>
            <a:ext cx="2997200" cy="165481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4815840" y="1715500"/>
            <a:ext cx="4972067" cy="4524315"/>
          </a:xfrm>
          <a:prstGeom prst="rect">
            <a:avLst/>
          </a:prstGeom>
          <a:noFill/>
        </p:spPr>
        <p:txBody>
          <a:bodyPr wrap="none" rtlCol="0">
            <a:spAutoFit/>
          </a:bodyPr>
          <a:lstStyle/>
          <a:p>
            <a:r>
              <a:rPr lang="en-US" dirty="0" smtClean="0">
                <a:solidFill>
                  <a:srgbClr val="92D050"/>
                </a:solidFill>
              </a:rPr>
              <a:t>CONTRACTOR</a:t>
            </a:r>
          </a:p>
          <a:p>
            <a:r>
              <a:rPr lang="en-US" dirty="0"/>
              <a:t>Construction—Special Trade </a:t>
            </a:r>
            <a:r>
              <a:rPr lang="en-US" dirty="0" smtClean="0"/>
              <a:t>Contractors</a:t>
            </a:r>
          </a:p>
          <a:p>
            <a:r>
              <a:rPr lang="en-US" dirty="0"/>
              <a:t>Construction—Builders &amp; General Trade </a:t>
            </a:r>
            <a:r>
              <a:rPr lang="en-US" dirty="0" smtClean="0"/>
              <a:t>Contractors</a:t>
            </a:r>
          </a:p>
          <a:p>
            <a:r>
              <a:rPr lang="en-US" dirty="0"/>
              <a:t>Landscaping, Lawn, Garden &amp; </a:t>
            </a:r>
            <a:r>
              <a:rPr lang="en-US" dirty="0" smtClean="0"/>
              <a:t>Tree</a:t>
            </a:r>
          </a:p>
          <a:p>
            <a:r>
              <a:rPr lang="en-US" dirty="0"/>
              <a:t>Landscaping, Snowplowing &amp; </a:t>
            </a:r>
            <a:r>
              <a:rPr lang="en-US" dirty="0" smtClean="0"/>
              <a:t>Firewood</a:t>
            </a:r>
          </a:p>
          <a:p>
            <a:r>
              <a:rPr lang="en-US" dirty="0"/>
              <a:t>Snow Removal &amp; Firewood </a:t>
            </a:r>
            <a:r>
              <a:rPr lang="en-US" dirty="0" smtClean="0"/>
              <a:t>Delivery</a:t>
            </a:r>
          </a:p>
          <a:p>
            <a:r>
              <a:rPr lang="en-US" dirty="0" smtClean="0">
                <a:solidFill>
                  <a:srgbClr val="92D050"/>
                </a:solidFill>
              </a:rPr>
              <a:t>TOW</a:t>
            </a:r>
          </a:p>
          <a:p>
            <a:r>
              <a:rPr lang="en-US" dirty="0"/>
              <a:t>Towing Services, Gas Stations &amp; Auto </a:t>
            </a:r>
            <a:r>
              <a:rPr lang="en-US" dirty="0" smtClean="0"/>
              <a:t>Repair</a:t>
            </a:r>
          </a:p>
          <a:p>
            <a:r>
              <a:rPr lang="en-US" dirty="0">
                <a:solidFill>
                  <a:srgbClr val="92D050"/>
                </a:solidFill>
              </a:rPr>
              <a:t>FOR-HIRE TRANSPORTATION </a:t>
            </a:r>
            <a:endParaRPr lang="en-US" dirty="0" smtClean="0">
              <a:solidFill>
                <a:srgbClr val="92D050"/>
              </a:solidFill>
            </a:endParaRPr>
          </a:p>
          <a:p>
            <a:r>
              <a:rPr lang="en-US" dirty="0" smtClean="0"/>
              <a:t>Expediter</a:t>
            </a:r>
          </a:p>
          <a:p>
            <a:r>
              <a:rPr lang="en-US" dirty="0" smtClean="0"/>
              <a:t>Manufacturing</a:t>
            </a:r>
          </a:p>
          <a:p>
            <a:r>
              <a:rPr lang="en-US" dirty="0"/>
              <a:t>Trucking </a:t>
            </a:r>
            <a:r>
              <a:rPr lang="en-US" dirty="0" smtClean="0"/>
              <a:t>For-Hire</a:t>
            </a:r>
          </a:p>
          <a:p>
            <a:r>
              <a:rPr lang="en-US" dirty="0">
                <a:solidFill>
                  <a:srgbClr val="92D050"/>
                </a:solidFill>
              </a:rPr>
              <a:t>FOR-HIRE </a:t>
            </a:r>
            <a:r>
              <a:rPr lang="en-US" dirty="0" smtClean="0">
                <a:solidFill>
                  <a:srgbClr val="92D050"/>
                </a:solidFill>
              </a:rPr>
              <a:t>SPECIALTY</a:t>
            </a:r>
          </a:p>
          <a:p>
            <a:r>
              <a:rPr lang="en-US" dirty="0"/>
              <a:t>Dirt, Sand &amp; </a:t>
            </a:r>
            <a:r>
              <a:rPr lang="en-US" dirty="0" smtClean="0"/>
              <a:t>Gravel</a:t>
            </a:r>
          </a:p>
          <a:p>
            <a:r>
              <a:rPr lang="en-US" dirty="0"/>
              <a:t>Logging &amp; Log </a:t>
            </a:r>
            <a:r>
              <a:rPr lang="en-US" dirty="0" smtClean="0"/>
              <a:t>Transport</a:t>
            </a:r>
          </a:p>
          <a:p>
            <a:r>
              <a:rPr lang="en-US" dirty="0"/>
              <a:t>Waste Haulers</a:t>
            </a:r>
          </a:p>
        </p:txBody>
      </p:sp>
    </p:spTree>
    <p:extLst>
      <p:ext uri="{BB962C8B-B14F-4D97-AF65-F5344CB8AC3E}">
        <p14:creationId xmlns:p14="http://schemas.microsoft.com/office/powerpoint/2010/main" val="1932530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et Progressive Insurance through Continental Insuranc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51503" y="3810393"/>
            <a:ext cx="2997200" cy="165481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800608" y="0"/>
            <a:ext cx="9720072" cy="1499616"/>
          </a:xfrm>
        </p:spPr>
        <p:txBody>
          <a:bodyPr/>
          <a:lstStyle/>
          <a:p>
            <a:r>
              <a:rPr lang="en-US" dirty="0"/>
              <a:t>SMALL FLEET SUBMISSIONS</a:t>
            </a:r>
          </a:p>
        </p:txBody>
      </p:sp>
      <p:sp>
        <p:nvSpPr>
          <p:cNvPr id="3" name="Content Placeholder 2"/>
          <p:cNvSpPr>
            <a:spLocks noGrp="1"/>
          </p:cNvSpPr>
          <p:nvPr>
            <p:ph idx="1"/>
          </p:nvPr>
        </p:nvSpPr>
        <p:spPr>
          <a:xfrm>
            <a:off x="800609" y="1005839"/>
            <a:ext cx="10568432" cy="5609108"/>
          </a:xfrm>
        </p:spPr>
        <p:txBody>
          <a:bodyPr>
            <a:noAutofit/>
          </a:bodyPr>
          <a:lstStyle/>
          <a:p>
            <a:pPr marL="0">
              <a:spcBef>
                <a:spcPts val="600"/>
              </a:spcBef>
              <a:spcAft>
                <a:spcPts val="600"/>
              </a:spcAft>
            </a:pPr>
            <a:r>
              <a:rPr lang="es-ES" sz="1100" b="1" dirty="0">
                <a:solidFill>
                  <a:srgbClr val="92D050"/>
                </a:solidFill>
              </a:rPr>
              <a:t>Aceptamos riesgos para flotas pequeñas de al menos 10 unidades motrices (hasta un máximo de 40 unidades en total, incluyendo remolques) que cumplan con los criterios de elegibilidad que se indican en la página de Flotas Pequeñas de FAO. Si el riesgo es elegible, seleccione una de las tres opciones a continuación para obtener una cotización.</a:t>
            </a:r>
          </a:p>
          <a:p>
            <a:pPr marL="0">
              <a:spcBef>
                <a:spcPts val="600"/>
              </a:spcBef>
              <a:spcAft>
                <a:spcPts val="600"/>
              </a:spcAft>
            </a:pPr>
            <a:r>
              <a:rPr lang="es-ES" sz="1100" b="1" dirty="0">
                <a:solidFill>
                  <a:srgbClr val="92D050"/>
                </a:solidFill>
              </a:rPr>
              <a:t>• Opción 1: Complete la Hoja de Cálculo para Cotizaciones de Flotas Pequeñas (descárguela a través de la página de Flotas Pequeñas de FAO; se requiere Excel) a fleet@commercial.progressive.com e incluya un historial de siniestralidad de tres años sin interrupción de la(s) aseguradora(s) actual(es) o anterior(es), con fecha dentro de los 90 días posteriores a la fecha de vigencia solicitada. Opción 2: Complete todas las pantallas de cotización en FAO y envíe un correo electrónico a fleet@commercial.progressive.com con la siguiente información adicional para completar su solicitud:</a:t>
            </a:r>
          </a:p>
          <a:p>
            <a:pPr marL="0">
              <a:spcBef>
                <a:spcPts val="600"/>
              </a:spcBef>
              <a:spcAft>
                <a:spcPts val="600"/>
              </a:spcAft>
            </a:pPr>
            <a:r>
              <a:rPr lang="es-ES" sz="1100" b="1" dirty="0">
                <a:solidFill>
                  <a:srgbClr val="92D050"/>
                </a:solidFill>
              </a:rPr>
              <a:t>• Coberturas, límites y deducibles deseados (Responsabilidad Civil, Daños Físicos, Carga, Responsabilidad Civil General, etc.)</a:t>
            </a:r>
          </a:p>
          <a:p>
            <a:pPr marL="0">
              <a:spcBef>
                <a:spcPts val="600"/>
              </a:spcBef>
              <a:spcAft>
                <a:spcPts val="600"/>
              </a:spcAft>
            </a:pPr>
            <a:r>
              <a:rPr lang="es-ES" sz="1100" b="1" dirty="0">
                <a:solidFill>
                  <a:srgbClr val="92D050"/>
                </a:solidFill>
              </a:rPr>
              <a:t>• Información del conductor</a:t>
            </a:r>
          </a:p>
          <a:p>
            <a:pPr marL="0">
              <a:spcBef>
                <a:spcPts val="600"/>
              </a:spcBef>
              <a:spcAft>
                <a:spcPts val="600"/>
              </a:spcAft>
            </a:pPr>
            <a:r>
              <a:rPr lang="es-ES" sz="1100" b="1" dirty="0">
                <a:solidFill>
                  <a:srgbClr val="92D050"/>
                </a:solidFill>
              </a:rPr>
              <a:t>• Información del vehículo</a:t>
            </a:r>
          </a:p>
          <a:p>
            <a:pPr marL="0">
              <a:spcBef>
                <a:spcPts val="600"/>
              </a:spcBef>
              <a:spcAft>
                <a:spcPts val="600"/>
              </a:spcAft>
            </a:pPr>
            <a:r>
              <a:rPr lang="es-ES" sz="1100" b="1" dirty="0">
                <a:solidFill>
                  <a:srgbClr val="92D050"/>
                </a:solidFill>
              </a:rPr>
              <a:t>• Número de Identificación Federal del Empleador (FEIN)</a:t>
            </a:r>
          </a:p>
          <a:p>
            <a:pPr marL="0">
              <a:spcBef>
                <a:spcPts val="600"/>
              </a:spcBef>
              <a:spcAft>
                <a:spcPts val="600"/>
              </a:spcAft>
            </a:pPr>
            <a:r>
              <a:rPr lang="es-ES" sz="1100" b="1" dirty="0">
                <a:solidFill>
                  <a:srgbClr val="92D050"/>
                </a:solidFill>
              </a:rPr>
              <a:t>• Tres años de siniestralidad sin interrupción de la(s) aseguradora(s) actual(es)/anterior(es), con fecha dentro de los 90 días posteriores a la fecha de vigencia solicitada</a:t>
            </a:r>
          </a:p>
          <a:p>
            <a:pPr marL="0">
              <a:spcBef>
                <a:spcPts val="600"/>
              </a:spcBef>
              <a:spcAft>
                <a:spcPts val="600"/>
              </a:spcAft>
            </a:pPr>
            <a:r>
              <a:rPr lang="es-ES" sz="1100" b="1" dirty="0">
                <a:solidFill>
                  <a:srgbClr val="92D050"/>
                </a:solidFill>
              </a:rPr>
              <a:t>Opción 3: Envíe por correo electrónico toda la información de riesgo requerida a fleet@commercial.progressive.com e incluya:</a:t>
            </a:r>
          </a:p>
          <a:p>
            <a:pPr marL="0">
              <a:spcBef>
                <a:spcPts val="600"/>
              </a:spcBef>
              <a:spcAft>
                <a:spcPts val="600"/>
              </a:spcAft>
            </a:pPr>
            <a:r>
              <a:rPr lang="es-ES" sz="1100" b="1" dirty="0">
                <a:solidFill>
                  <a:srgbClr val="92D050"/>
                </a:solidFill>
              </a:rPr>
              <a:t>• Coberturas, límites y deducibles deseados (Responsabilidad Civil, Daños Físicos, Carga, Responsabilidad Civil General, etc.)</a:t>
            </a:r>
          </a:p>
          <a:p>
            <a:pPr marL="0">
              <a:spcBef>
                <a:spcPts val="600"/>
              </a:spcBef>
              <a:spcAft>
                <a:spcPts val="600"/>
              </a:spcAft>
            </a:pPr>
            <a:r>
              <a:rPr lang="es-ES" sz="1100" b="1" dirty="0">
                <a:solidFill>
                  <a:srgbClr val="92D050"/>
                </a:solidFill>
              </a:rPr>
              <a:t>• Información de la compañía</a:t>
            </a:r>
          </a:p>
          <a:p>
            <a:pPr marL="0">
              <a:spcBef>
                <a:spcPts val="600"/>
              </a:spcBef>
              <a:spcAft>
                <a:spcPts val="600"/>
              </a:spcAft>
            </a:pPr>
            <a:r>
              <a:rPr lang="es-ES" sz="1100" b="1" dirty="0">
                <a:solidFill>
                  <a:srgbClr val="92D050"/>
                </a:solidFill>
              </a:rPr>
              <a:t>• Información del conductor</a:t>
            </a:r>
          </a:p>
          <a:p>
            <a:pPr marL="0">
              <a:spcBef>
                <a:spcPts val="600"/>
              </a:spcBef>
              <a:spcAft>
                <a:spcPts val="600"/>
              </a:spcAft>
            </a:pPr>
            <a:r>
              <a:rPr lang="es-ES" sz="1100" b="1" dirty="0">
                <a:solidFill>
                  <a:srgbClr val="92D050"/>
                </a:solidFill>
              </a:rPr>
              <a:t>• Información del vehículo</a:t>
            </a:r>
          </a:p>
          <a:p>
            <a:pPr marL="0">
              <a:spcBef>
                <a:spcPts val="600"/>
              </a:spcBef>
              <a:spcAft>
                <a:spcPts val="600"/>
              </a:spcAft>
            </a:pPr>
            <a:r>
              <a:rPr lang="es-ES" sz="1100" b="1" dirty="0">
                <a:solidFill>
                  <a:srgbClr val="92D050"/>
                </a:solidFill>
              </a:rPr>
              <a:t>• FEIN</a:t>
            </a:r>
          </a:p>
          <a:p>
            <a:pPr marL="0">
              <a:spcBef>
                <a:spcPts val="600"/>
              </a:spcBef>
              <a:spcAft>
                <a:spcPts val="600"/>
              </a:spcAft>
            </a:pPr>
            <a:r>
              <a:rPr lang="es-ES" sz="1100" b="1" dirty="0">
                <a:solidFill>
                  <a:srgbClr val="92D050"/>
                </a:solidFill>
              </a:rPr>
              <a:t>• Tres años de siniestralidad sin interrupción de la(s) aseguradora(s) actual(es)/anterior(es), con fecha dentro de los 90 días posteriores a la fecha de vigencia solicitada</a:t>
            </a:r>
          </a:p>
          <a:p>
            <a:pPr marL="0">
              <a:spcBef>
                <a:spcPts val="600"/>
              </a:spcBef>
              <a:spcAft>
                <a:spcPts val="600"/>
              </a:spcAft>
            </a:pPr>
            <a:r>
              <a:rPr lang="es-ES" sz="1100" b="1" dirty="0">
                <a:solidFill>
                  <a:srgbClr val="92D050"/>
                </a:solidFill>
              </a:rPr>
              <a:t>Nota: El plazo habitual es de dos semanas, pero puede ser de hasta cinco días si se proporciona toda la información al momento de la solicitud. Suscripción revisa manualmente todas las solicitudes y puede hacer preguntas adicionales. No se hacen excepciones para cotizaciones de última hora. Envíe sus solicitudes con al menos dos semanas de anticipación a la fecha de entrada en vigor deseada. Suscripción de Flotas solo proporcionará una cotización por riesgo. La primera solicitud completada para un riesgo asegurará al agente registrado.</a:t>
            </a:r>
            <a:endParaRPr lang="en-US" sz="1100" b="1" dirty="0">
              <a:solidFill>
                <a:srgbClr val="92D050"/>
              </a:solidFill>
            </a:endParaRPr>
          </a:p>
        </p:txBody>
      </p:sp>
    </p:spTree>
    <p:extLst>
      <p:ext uri="{BB962C8B-B14F-4D97-AF65-F5344CB8AC3E}">
        <p14:creationId xmlns:p14="http://schemas.microsoft.com/office/powerpoint/2010/main" val="147656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0448" y="8430"/>
            <a:ext cx="9720072" cy="1499616"/>
          </a:xfrm>
        </p:spPr>
        <p:txBody>
          <a:bodyPr/>
          <a:lstStyle/>
          <a:p>
            <a:r>
              <a:rPr lang="es-ES" dirty="0"/>
              <a:t>Descuentos y ahorros en Texas</a:t>
            </a:r>
            <a:endParaRPr lang="en-US" dirty="0"/>
          </a:p>
        </p:txBody>
      </p:sp>
      <p:sp>
        <p:nvSpPr>
          <p:cNvPr id="3" name="Content Placeholder 2"/>
          <p:cNvSpPr>
            <a:spLocks noGrp="1"/>
          </p:cNvSpPr>
          <p:nvPr>
            <p:ph idx="1"/>
          </p:nvPr>
        </p:nvSpPr>
        <p:spPr>
          <a:xfrm>
            <a:off x="690880" y="986228"/>
            <a:ext cx="3870961" cy="4801314"/>
          </a:xfrm>
        </p:spPr>
        <p:txBody>
          <a:bodyPr>
            <a:normAutofit/>
          </a:bodyPr>
          <a:lstStyle/>
          <a:p>
            <a:r>
              <a:rPr lang="en-US" dirty="0"/>
              <a:t>PAID IN FULL </a:t>
            </a:r>
            <a:r>
              <a:rPr lang="en-US" dirty="0" smtClean="0"/>
              <a:t>DISCOUNT</a:t>
            </a:r>
          </a:p>
          <a:p>
            <a:r>
              <a:rPr lang="en-US" dirty="0"/>
              <a:t>ELECTRONIC FUNDS TRANSFER (EFT) </a:t>
            </a:r>
            <a:r>
              <a:rPr lang="en-US" dirty="0" smtClean="0"/>
              <a:t>DISCOUNT</a:t>
            </a:r>
          </a:p>
          <a:p>
            <a:r>
              <a:rPr lang="en-US" dirty="0"/>
              <a:t>SNAPSHOT PROVIEW® </a:t>
            </a:r>
            <a:r>
              <a:rPr lang="en-US" dirty="0" smtClean="0"/>
              <a:t>SAVINGS</a:t>
            </a:r>
          </a:p>
          <a:p>
            <a:r>
              <a:rPr lang="en-US" dirty="0"/>
              <a:t>SMART HAUL® </a:t>
            </a:r>
            <a:r>
              <a:rPr lang="en-US" dirty="0" smtClean="0"/>
              <a:t>SAVINGS</a:t>
            </a:r>
          </a:p>
          <a:p>
            <a:r>
              <a:rPr lang="en-US" dirty="0"/>
              <a:t>SMART HAUL + DASHCAM </a:t>
            </a:r>
            <a:r>
              <a:rPr lang="en-US" dirty="0" smtClean="0"/>
              <a:t>SAVINGS</a:t>
            </a:r>
          </a:p>
          <a:p>
            <a:r>
              <a:rPr lang="en-US" dirty="0"/>
              <a:t>MULTI-PRODUCT </a:t>
            </a:r>
            <a:r>
              <a:rPr lang="en-US" dirty="0" smtClean="0"/>
              <a:t>DISCOUNT</a:t>
            </a:r>
          </a:p>
          <a:p>
            <a:r>
              <a:rPr lang="en-US" dirty="0"/>
              <a:t>PROOF OF PRIOR INSURANCE SAVINGS</a:t>
            </a:r>
          </a:p>
        </p:txBody>
      </p:sp>
      <p:pic>
        <p:nvPicPr>
          <p:cNvPr id="5" name="Picture 4" descr="Get Progressive Insurance through Continental Insuranc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17823" y="4960137"/>
            <a:ext cx="2997200" cy="165481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661409" y="986228"/>
            <a:ext cx="7274559" cy="5909310"/>
          </a:xfrm>
          <a:prstGeom prst="rect">
            <a:avLst/>
          </a:prstGeom>
          <a:noFill/>
        </p:spPr>
        <p:txBody>
          <a:bodyPr wrap="square" rtlCol="0">
            <a:spAutoFit/>
          </a:bodyPr>
          <a:lstStyle/>
          <a:p>
            <a:r>
              <a:rPr lang="en-US" dirty="0"/>
              <a:t>Savings Offered in these </a:t>
            </a:r>
            <a:r>
              <a:rPr lang="en-US" dirty="0" smtClean="0"/>
              <a:t>programs</a:t>
            </a:r>
          </a:p>
          <a:p>
            <a:endParaRPr lang="en-US" dirty="0" smtClean="0"/>
          </a:p>
          <a:p>
            <a:r>
              <a:rPr lang="en-US" dirty="0" smtClean="0">
                <a:solidFill>
                  <a:srgbClr val="FFC000"/>
                </a:solidFill>
              </a:rPr>
              <a:t>Paid </a:t>
            </a:r>
            <a:r>
              <a:rPr lang="en-US" dirty="0">
                <a:solidFill>
                  <a:srgbClr val="FFC000"/>
                </a:solidFill>
              </a:rPr>
              <a:t>In Full 17% annual policies </a:t>
            </a:r>
            <a:r>
              <a:rPr lang="en-US" dirty="0" smtClean="0">
                <a:solidFill>
                  <a:srgbClr val="FFC000"/>
                </a:solidFill>
              </a:rPr>
              <a:t>13</a:t>
            </a:r>
            <a:r>
              <a:rPr lang="en-US" dirty="0">
                <a:solidFill>
                  <a:srgbClr val="FFC000"/>
                </a:solidFill>
              </a:rPr>
              <a:t>% six-month policies </a:t>
            </a:r>
            <a:r>
              <a:rPr lang="en-US" dirty="0" smtClean="0">
                <a:solidFill>
                  <a:srgbClr val="FFC000"/>
                </a:solidFill>
              </a:rPr>
              <a:t>–</a:t>
            </a:r>
          </a:p>
          <a:p>
            <a:r>
              <a:rPr lang="en-US" dirty="0" smtClean="0"/>
              <a:t>Business </a:t>
            </a:r>
            <a:r>
              <a:rPr lang="en-US" dirty="0"/>
              <a:t>Auto - Contractors - For-Hire Specialty - For-Hire Transportation - Tow </a:t>
            </a:r>
            <a:endParaRPr lang="en-US" dirty="0" smtClean="0"/>
          </a:p>
          <a:p>
            <a:r>
              <a:rPr lang="en-US" dirty="0" smtClean="0">
                <a:solidFill>
                  <a:srgbClr val="FFC000"/>
                </a:solidFill>
              </a:rPr>
              <a:t>Electronic </a:t>
            </a:r>
            <a:r>
              <a:rPr lang="en-US" dirty="0">
                <a:solidFill>
                  <a:srgbClr val="FFC000"/>
                </a:solidFill>
              </a:rPr>
              <a:t>Funds Transfer 2% – 5% Liability 5% – 7% Physical Damage</a:t>
            </a:r>
            <a:r>
              <a:rPr lang="en-US" dirty="0"/>
              <a:t> </a:t>
            </a:r>
            <a:endParaRPr lang="en-US" dirty="0" smtClean="0"/>
          </a:p>
          <a:p>
            <a:r>
              <a:rPr lang="en-US" dirty="0" smtClean="0"/>
              <a:t>All </a:t>
            </a:r>
          </a:p>
          <a:p>
            <a:r>
              <a:rPr lang="en-US" dirty="0" smtClean="0">
                <a:solidFill>
                  <a:srgbClr val="FFC000"/>
                </a:solidFill>
              </a:rPr>
              <a:t>Snapshot </a:t>
            </a:r>
            <a:r>
              <a:rPr lang="en-US" dirty="0" err="1">
                <a:solidFill>
                  <a:srgbClr val="FFC000"/>
                </a:solidFill>
              </a:rPr>
              <a:t>ProView</a:t>
            </a:r>
            <a:r>
              <a:rPr lang="en-US" dirty="0">
                <a:solidFill>
                  <a:srgbClr val="FFC000"/>
                </a:solidFill>
              </a:rPr>
              <a:t> 5% – 8% or more </a:t>
            </a:r>
            <a:r>
              <a:rPr lang="en-US" dirty="0"/>
              <a:t>All </a:t>
            </a:r>
            <a:endParaRPr lang="en-US" dirty="0" smtClean="0"/>
          </a:p>
          <a:p>
            <a:r>
              <a:rPr lang="en-US" dirty="0" smtClean="0">
                <a:solidFill>
                  <a:srgbClr val="FFC000"/>
                </a:solidFill>
              </a:rPr>
              <a:t>Smart </a:t>
            </a:r>
            <a:r>
              <a:rPr lang="en-US" dirty="0">
                <a:solidFill>
                  <a:srgbClr val="FFC000"/>
                </a:solidFill>
              </a:rPr>
              <a:t>Haul 3% - 5% or more </a:t>
            </a:r>
            <a:endParaRPr lang="en-US" dirty="0" smtClean="0">
              <a:solidFill>
                <a:srgbClr val="FFC000"/>
              </a:solidFill>
            </a:endParaRPr>
          </a:p>
          <a:p>
            <a:r>
              <a:rPr lang="en-US" dirty="0" smtClean="0"/>
              <a:t>For-Hire </a:t>
            </a:r>
            <a:r>
              <a:rPr lang="en-US" dirty="0"/>
              <a:t>Transportation with a non-partner vendor ELD </a:t>
            </a:r>
            <a:r>
              <a:rPr lang="en-US" dirty="0" smtClean="0"/>
              <a:t>- </a:t>
            </a:r>
            <a:r>
              <a:rPr lang="en-US" dirty="0"/>
              <a:t>For-Hire Transportation with a partner vendor ELD </a:t>
            </a:r>
            <a:endParaRPr lang="en-US" dirty="0" smtClean="0"/>
          </a:p>
          <a:p>
            <a:r>
              <a:rPr lang="en-US" dirty="0" smtClean="0">
                <a:solidFill>
                  <a:srgbClr val="FFC000"/>
                </a:solidFill>
              </a:rPr>
              <a:t>Smart </a:t>
            </a:r>
            <a:r>
              <a:rPr lang="en-US" dirty="0">
                <a:solidFill>
                  <a:srgbClr val="FFC000"/>
                </a:solidFill>
              </a:rPr>
              <a:t>Haul + </a:t>
            </a:r>
            <a:r>
              <a:rPr lang="en-US" dirty="0" err="1">
                <a:solidFill>
                  <a:srgbClr val="FFC000"/>
                </a:solidFill>
              </a:rPr>
              <a:t>Dashcam</a:t>
            </a:r>
            <a:r>
              <a:rPr lang="en-US" dirty="0">
                <a:solidFill>
                  <a:srgbClr val="FFC000"/>
                </a:solidFill>
              </a:rPr>
              <a:t> Additional 10</a:t>
            </a:r>
            <a:r>
              <a:rPr lang="en-US" dirty="0" smtClean="0">
                <a:solidFill>
                  <a:srgbClr val="FFC000"/>
                </a:solidFill>
              </a:rPr>
              <a:t>%</a:t>
            </a:r>
          </a:p>
          <a:p>
            <a:r>
              <a:rPr lang="en-US" dirty="0" smtClean="0"/>
              <a:t>For-Hire </a:t>
            </a:r>
            <a:r>
              <a:rPr lang="en-US" dirty="0"/>
              <a:t>Transportation with an ELD and qualified AI </a:t>
            </a:r>
            <a:r>
              <a:rPr lang="en-US" dirty="0" smtClean="0"/>
              <a:t>dash cam </a:t>
            </a:r>
            <a:r>
              <a:rPr lang="en-US" dirty="0"/>
              <a:t>from Progressive’s preferred vendor, Motive </a:t>
            </a:r>
            <a:endParaRPr lang="en-US" dirty="0" smtClean="0"/>
          </a:p>
          <a:p>
            <a:r>
              <a:rPr lang="en-US" dirty="0" smtClean="0">
                <a:solidFill>
                  <a:srgbClr val="FFC000"/>
                </a:solidFill>
              </a:rPr>
              <a:t>Multi-Product </a:t>
            </a:r>
            <a:r>
              <a:rPr lang="en-US" dirty="0">
                <a:solidFill>
                  <a:srgbClr val="FFC000"/>
                </a:solidFill>
              </a:rPr>
              <a:t>0% – 5% Liability 0% – 8% Collision 5% – 10% </a:t>
            </a:r>
            <a:r>
              <a:rPr lang="en-US" dirty="0"/>
              <a:t>Comprehensive All Discount varies by business type </a:t>
            </a:r>
            <a:endParaRPr lang="en-US" dirty="0" smtClean="0"/>
          </a:p>
          <a:p>
            <a:endParaRPr lang="es-MX" dirty="0"/>
          </a:p>
          <a:p>
            <a:endParaRPr lang="es-MX" dirty="0" smtClean="0"/>
          </a:p>
          <a:p>
            <a:endParaRPr lang="en-US" dirty="0" smtClean="0"/>
          </a:p>
          <a:p>
            <a:r>
              <a:rPr lang="en-US" dirty="0" smtClean="0">
                <a:solidFill>
                  <a:srgbClr val="92D050"/>
                </a:solidFill>
              </a:rPr>
              <a:t>Note</a:t>
            </a:r>
            <a:r>
              <a:rPr lang="en-US" dirty="0">
                <a:solidFill>
                  <a:srgbClr val="92D050"/>
                </a:solidFill>
              </a:rPr>
              <a:t>: Savings are subject to change and may vary by coverage, program, business type, and state.</a:t>
            </a:r>
          </a:p>
        </p:txBody>
      </p:sp>
    </p:spTree>
    <p:extLst>
      <p:ext uri="{BB962C8B-B14F-4D97-AF65-F5344CB8AC3E}">
        <p14:creationId xmlns:p14="http://schemas.microsoft.com/office/powerpoint/2010/main" val="1417454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0288" y="0"/>
            <a:ext cx="9720072" cy="1499616"/>
          </a:xfrm>
        </p:spPr>
        <p:txBody>
          <a:bodyPr/>
          <a:lstStyle/>
          <a:p>
            <a:r>
              <a:rPr lang="en-US" dirty="0"/>
              <a:t>Body Type Guide</a:t>
            </a:r>
          </a:p>
        </p:txBody>
      </p:sp>
      <p:pic>
        <p:nvPicPr>
          <p:cNvPr id="4" name="Content Placeholder 3"/>
          <p:cNvPicPr>
            <a:picLocks noGrp="1" noChangeAspect="1"/>
          </p:cNvPicPr>
          <p:nvPr>
            <p:ph idx="1"/>
          </p:nvPr>
        </p:nvPicPr>
        <p:blipFill>
          <a:blip r:embed="rId2"/>
          <a:stretch>
            <a:fillRect/>
          </a:stretch>
        </p:blipFill>
        <p:spPr>
          <a:xfrm>
            <a:off x="780287" y="1264450"/>
            <a:ext cx="7547523" cy="4922989"/>
          </a:xfrm>
          <a:prstGeom prst="rect">
            <a:avLst/>
          </a:prstGeom>
        </p:spPr>
      </p:pic>
      <p:pic>
        <p:nvPicPr>
          <p:cNvPr id="5" name="Picture 4" descr="Get Progressive Insurance through Continental Insuranc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17823" y="4960137"/>
            <a:ext cx="2997200" cy="1654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8977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Body Type Guide (Cont’d)</a:t>
            </a:r>
          </a:p>
        </p:txBody>
      </p:sp>
      <p:pic>
        <p:nvPicPr>
          <p:cNvPr id="4" name="Content Placeholder 3"/>
          <p:cNvPicPr>
            <a:picLocks noGrp="1" noChangeAspect="1"/>
          </p:cNvPicPr>
          <p:nvPr>
            <p:ph idx="1"/>
          </p:nvPr>
        </p:nvPicPr>
        <p:blipFill>
          <a:blip r:embed="rId2"/>
          <a:stretch>
            <a:fillRect/>
          </a:stretch>
        </p:blipFill>
        <p:spPr>
          <a:xfrm>
            <a:off x="833121" y="1659332"/>
            <a:ext cx="8234368" cy="4268162"/>
          </a:xfrm>
          <a:prstGeom prst="rect">
            <a:avLst/>
          </a:prstGeom>
        </p:spPr>
      </p:pic>
      <p:pic>
        <p:nvPicPr>
          <p:cNvPr id="5" name="Picture 4" descr="Get Progressive Insurance through Continental Insuranc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17823" y="4960137"/>
            <a:ext cx="2997200" cy="1654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396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Contactos </a:t>
            </a:r>
            <a:r>
              <a:rPr lang="es-MX" dirty="0" err="1"/>
              <a:t>via</a:t>
            </a:r>
            <a:r>
              <a:rPr lang="es-MX" dirty="0"/>
              <a:t> email</a:t>
            </a:r>
            <a:endParaRPr lang="en-US" dirty="0"/>
          </a:p>
        </p:txBody>
      </p:sp>
      <p:sp>
        <p:nvSpPr>
          <p:cNvPr id="3" name="Content Placeholder 2"/>
          <p:cNvSpPr>
            <a:spLocks noGrp="1"/>
          </p:cNvSpPr>
          <p:nvPr>
            <p:ph idx="1"/>
          </p:nvPr>
        </p:nvSpPr>
        <p:spPr/>
        <p:txBody>
          <a:bodyPr/>
          <a:lstStyle/>
          <a:p>
            <a:r>
              <a:rPr lang="es-MX" dirty="0" smtClean="0"/>
              <a:t>ON LINE</a:t>
            </a:r>
          </a:p>
          <a:p>
            <a:r>
              <a:rPr lang="es-MX" dirty="0" smtClean="0"/>
              <a:t>VIA TELEFONO</a:t>
            </a:r>
          </a:p>
          <a:p>
            <a:r>
              <a:rPr lang="es-MX" dirty="0" smtClean="0"/>
              <a:t> AGENTES RANDOMS</a:t>
            </a:r>
          </a:p>
          <a:p>
            <a:endParaRPr lang="es-MX" dirty="0" smtClean="0"/>
          </a:p>
          <a:p>
            <a:endParaRPr lang="en-US" dirty="0"/>
          </a:p>
        </p:txBody>
      </p:sp>
      <p:pic>
        <p:nvPicPr>
          <p:cNvPr id="5" name="Picture 4" descr="Get Progressive Insurance through Continental Insuranc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17823" y="4960137"/>
            <a:ext cx="2997200" cy="1654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1998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Contactos </a:t>
            </a:r>
            <a:r>
              <a:rPr lang="es-MX" dirty="0" err="1"/>
              <a:t>via</a:t>
            </a:r>
            <a:r>
              <a:rPr lang="es-MX" dirty="0"/>
              <a:t> email</a:t>
            </a:r>
            <a:endParaRPr lang="en-US" dirty="0"/>
          </a:p>
        </p:txBody>
      </p:sp>
      <p:sp>
        <p:nvSpPr>
          <p:cNvPr id="3" name="Content Placeholder 2"/>
          <p:cNvSpPr>
            <a:spLocks noGrp="1"/>
          </p:cNvSpPr>
          <p:nvPr>
            <p:ph idx="1"/>
          </p:nvPr>
        </p:nvSpPr>
        <p:spPr/>
        <p:txBody>
          <a:bodyPr/>
          <a:lstStyle/>
          <a:p>
            <a:endParaRPr lang="en-US"/>
          </a:p>
        </p:txBody>
      </p:sp>
      <p:pic>
        <p:nvPicPr>
          <p:cNvPr id="5" name="Picture 4" descr="Get Progressive Insurance through Continental Insuranc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17823" y="4960137"/>
            <a:ext cx="2997200" cy="1654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78559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TM03457485[[fn=Mesh]]</Template>
  <TotalTime>65</TotalTime>
  <Words>1128</Words>
  <Application>Microsoft Office PowerPoint</Application>
  <PresentationFormat>Widescreen</PresentationFormat>
  <Paragraphs>104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Arial Narrow</vt:lpstr>
      <vt:lpstr>Century Gothic</vt:lpstr>
      <vt:lpstr>Mesh</vt:lpstr>
      <vt:lpstr>MGA </vt:lpstr>
      <vt:lpstr>Carriers </vt:lpstr>
      <vt:lpstr>Radio de operación</vt:lpstr>
      <vt:lpstr>Drivers / unidades</vt:lpstr>
      <vt:lpstr>Coberturas</vt:lpstr>
      <vt:lpstr>additional &amp; wos</vt:lpstr>
      <vt:lpstr>BUSINESS AUTO</vt:lpstr>
      <vt:lpstr>SMALL FLEET SUBMISSIONS</vt:lpstr>
      <vt:lpstr>Descuentos y ahorros en Texas</vt:lpstr>
      <vt:lpstr>Body Type Guide</vt:lpstr>
      <vt:lpstr>Body Type Guide (Cont’d)</vt:lpstr>
      <vt:lpstr>Contactos via email</vt:lpstr>
      <vt:lpstr>Contactos via email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Paramount </dc:title>
  <dc:creator>pp</dc:creator>
  <cp:lastModifiedBy>pp</cp:lastModifiedBy>
  <cp:revision>10</cp:revision>
  <dcterms:created xsi:type="dcterms:W3CDTF">2025-05-27T17:49:18Z</dcterms:created>
  <dcterms:modified xsi:type="dcterms:W3CDTF">2025-10-04T19:14:17Z</dcterms:modified>
</cp:coreProperties>
</file>