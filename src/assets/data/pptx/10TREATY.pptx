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3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03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01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7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58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7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7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6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2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2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FE49EE4-6040-463F-97DF-260D747930E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58305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 TREATY </a:t>
            </a:r>
            <a:endParaRPr lang="en-US" dirty="0"/>
          </a:p>
        </p:txBody>
      </p:sp>
      <p:pic>
        <p:nvPicPr>
          <p:cNvPr id="1026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98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Carriers</a:t>
            </a:r>
            <a:r>
              <a:rPr lang="es-MX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0799" y="1346670"/>
            <a:ext cx="7796540" cy="3997828"/>
          </a:xfrm>
        </p:spPr>
        <p:txBody>
          <a:bodyPr/>
          <a:lstStyle/>
          <a:p>
            <a:r>
              <a:rPr lang="es-MX" dirty="0" err="1" smtClean="0"/>
              <a:t>Alpine</a:t>
            </a:r>
            <a:r>
              <a:rPr lang="es-MX" dirty="0" smtClean="0"/>
              <a:t> </a:t>
            </a:r>
            <a:r>
              <a:rPr lang="en-US" dirty="0"/>
              <a:t> </a:t>
            </a:r>
            <a:r>
              <a:rPr lang="en-US" dirty="0" smtClean="0"/>
              <a:t>ONLY AL </a:t>
            </a:r>
          </a:p>
          <a:p>
            <a:r>
              <a:rPr lang="es-MX" dirty="0" smtClean="0"/>
              <a:t>CANOPIUS </a:t>
            </a:r>
          </a:p>
          <a:p>
            <a:r>
              <a:rPr lang="es-MX" dirty="0" smtClean="0"/>
              <a:t>GREAT AMERICAN </a:t>
            </a:r>
          </a:p>
          <a:p>
            <a:r>
              <a:rPr lang="es-MX" dirty="0" smtClean="0"/>
              <a:t>GREAT LAKE </a:t>
            </a:r>
          </a:p>
          <a:p>
            <a:r>
              <a:rPr lang="es-MX" dirty="0" smtClean="0"/>
              <a:t>LLOYDS </a:t>
            </a:r>
          </a:p>
          <a:p>
            <a:endParaRPr lang="es-MX" dirty="0"/>
          </a:p>
          <a:p>
            <a:r>
              <a:rPr lang="es-MX" dirty="0" smtClean="0"/>
              <a:t>ENTRE OTROS</a:t>
            </a:r>
          </a:p>
        </p:txBody>
      </p:sp>
      <p:sp>
        <p:nvSpPr>
          <p:cNvPr id="4" name="AutoShape 2" descr="QEO on the App 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QEO on the App Sto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37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TIPOS DE NEGOCIOS</a:t>
            </a:r>
            <a:br>
              <a:rPr lang="es-MX" dirty="0" smtClean="0"/>
            </a:br>
            <a:r>
              <a:rPr lang="es-MX" dirty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2318" y="1635556"/>
            <a:ext cx="9438721" cy="3997828"/>
          </a:xfrm>
        </p:spPr>
        <p:txBody>
          <a:bodyPr numCol="3">
            <a:noAutofit/>
          </a:bodyPr>
          <a:lstStyle/>
          <a:p>
            <a:r>
              <a:rPr lang="en-US" sz="1800" b="1" dirty="0"/>
              <a:t>Prohibited: *</a:t>
            </a:r>
          </a:p>
          <a:p>
            <a:r>
              <a:rPr lang="en-US" sz="1800" dirty="0" smtClean="0"/>
              <a:t>• </a:t>
            </a:r>
            <a:r>
              <a:rPr lang="en-US" sz="1800" dirty="0"/>
              <a:t>Private Passenger Autos</a:t>
            </a:r>
          </a:p>
          <a:p>
            <a:r>
              <a:rPr lang="en-US" sz="1800" dirty="0"/>
              <a:t>• Dump Trucks</a:t>
            </a:r>
          </a:p>
          <a:p>
            <a:r>
              <a:rPr lang="en-US" sz="1800" dirty="0"/>
              <a:t>• Trash Trucks</a:t>
            </a:r>
          </a:p>
          <a:p>
            <a:r>
              <a:rPr lang="en-US" sz="1800" dirty="0"/>
              <a:t>• Hotshots - Pickups</a:t>
            </a:r>
          </a:p>
          <a:p>
            <a:r>
              <a:rPr lang="en-US" sz="1800" dirty="0"/>
              <a:t>• Box Trucks</a:t>
            </a:r>
          </a:p>
          <a:p>
            <a:r>
              <a:rPr lang="en-US" sz="1800" dirty="0"/>
              <a:t>• Towing</a:t>
            </a:r>
          </a:p>
          <a:p>
            <a:r>
              <a:rPr lang="en-US" sz="1800" dirty="0"/>
              <a:t>• Freight Brokers</a:t>
            </a:r>
          </a:p>
          <a:p>
            <a:r>
              <a:rPr lang="en-US" sz="1800" dirty="0"/>
              <a:t>• Household Goods Movers</a:t>
            </a:r>
          </a:p>
          <a:p>
            <a:r>
              <a:rPr lang="en-US" sz="1800" dirty="0"/>
              <a:t>• Concrete Mixers</a:t>
            </a:r>
          </a:p>
          <a:p>
            <a:r>
              <a:rPr lang="en-US" sz="1800" dirty="0"/>
              <a:t>• Livestock</a:t>
            </a:r>
          </a:p>
          <a:p>
            <a:r>
              <a:rPr lang="en-US" sz="1800" dirty="0"/>
              <a:t>• Logging</a:t>
            </a:r>
          </a:p>
          <a:p>
            <a:r>
              <a:rPr lang="en-US" sz="1800" dirty="0"/>
              <a:t>• </a:t>
            </a:r>
            <a:r>
              <a:rPr lang="en-US" sz="1800" dirty="0" err="1"/>
              <a:t>Frac</a:t>
            </a:r>
            <a:r>
              <a:rPr lang="en-US" sz="1800" dirty="0"/>
              <a:t> Sand</a:t>
            </a:r>
          </a:p>
          <a:p>
            <a:r>
              <a:rPr lang="en-US" sz="1800" dirty="0">
                <a:solidFill>
                  <a:srgbClr val="FF0000"/>
                </a:solidFill>
              </a:rPr>
              <a:t>• Steel Coils</a:t>
            </a:r>
          </a:p>
          <a:p>
            <a:r>
              <a:rPr lang="en-US" sz="1800" dirty="0"/>
              <a:t>• Service Vehicles</a:t>
            </a:r>
          </a:p>
          <a:p>
            <a:r>
              <a:rPr lang="en-US" sz="1800" dirty="0"/>
              <a:t>• Mobile Home Transport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8210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de </a:t>
            </a:r>
            <a:r>
              <a:rPr lang="es-MX" dirty="0" err="1" smtClean="0"/>
              <a:t>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Intra</a:t>
            </a:r>
            <a:r>
              <a:rPr lang="es-MX" dirty="0" smtClean="0"/>
              <a:t> y </a:t>
            </a:r>
            <a:r>
              <a:rPr lang="es-MX" dirty="0" err="1" smtClean="0"/>
              <a:t>interstate</a:t>
            </a:r>
            <a:r>
              <a:rPr lang="es-MX" dirty="0" smtClean="0"/>
              <a:t> </a:t>
            </a:r>
            <a:endParaRPr lang="en-US" dirty="0"/>
          </a:p>
        </p:txBody>
      </p:sp>
      <p:pic>
        <p:nvPicPr>
          <p:cNvPr id="7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404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 smtClean="0"/>
              <a:t>PROHIBID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Drivers with less than </a:t>
            </a:r>
            <a:r>
              <a:rPr lang="en-US" dirty="0" smtClean="0"/>
              <a:t>2 years </a:t>
            </a:r>
            <a:r>
              <a:rPr lang="en-US" dirty="0"/>
              <a:t>of experience</a:t>
            </a:r>
          </a:p>
          <a:p>
            <a:r>
              <a:rPr lang="da-DK" dirty="0"/>
              <a:t>• Drivers under 23, over </a:t>
            </a:r>
            <a:r>
              <a:rPr lang="da-DK" dirty="0" smtClean="0"/>
              <a:t>70</a:t>
            </a:r>
          </a:p>
          <a:p>
            <a:r>
              <a:rPr lang="en-US" dirty="0"/>
              <a:t>Tractors over 20 years </a:t>
            </a:r>
            <a:r>
              <a:rPr lang="en-US" dirty="0" smtClean="0"/>
              <a:t>old CON FOTO &amp; INSPECTION MECANICA</a:t>
            </a:r>
            <a:endParaRPr lang="en-US" dirty="0"/>
          </a:p>
          <a:p>
            <a:r>
              <a:rPr lang="en-US" dirty="0"/>
              <a:t>• Trailers over 25 years </a:t>
            </a:r>
            <a:r>
              <a:rPr lang="en-US" dirty="0" smtClean="0"/>
              <a:t>old </a:t>
            </a:r>
            <a:r>
              <a:rPr lang="en-US" dirty="0"/>
              <a:t>CON FOTO &amp; INSPECTION MECANICA</a:t>
            </a:r>
          </a:p>
          <a:p>
            <a:endParaRPr lang="en-US" dirty="0"/>
          </a:p>
          <a:p>
            <a:endParaRPr lang="da-DK" dirty="0"/>
          </a:p>
          <a:p>
            <a:endParaRPr lang="en-US" dirty="0"/>
          </a:p>
        </p:txBody>
      </p:sp>
      <p:pic>
        <p:nvPicPr>
          <p:cNvPr id="7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9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Liability</a:t>
            </a:r>
            <a:r>
              <a:rPr lang="es-MX" dirty="0" smtClean="0"/>
              <a:t> </a:t>
            </a:r>
          </a:p>
          <a:p>
            <a:r>
              <a:rPr lang="es-MX" dirty="0" smtClean="0"/>
              <a:t>Cargo </a:t>
            </a:r>
          </a:p>
          <a:p>
            <a:r>
              <a:rPr lang="es-MX" dirty="0" err="1" smtClean="0"/>
              <a:t>Physical</a:t>
            </a:r>
            <a:r>
              <a:rPr lang="es-MX" dirty="0" smtClean="0"/>
              <a:t> </a:t>
            </a:r>
            <a:r>
              <a:rPr lang="es-MX" dirty="0" err="1" smtClean="0"/>
              <a:t>damage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Gl</a:t>
            </a:r>
            <a:endParaRPr lang="es-MX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9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additional</a:t>
            </a:r>
            <a:r>
              <a:rPr lang="es-MX" dirty="0"/>
              <a:t> &amp; </a:t>
            </a:r>
            <a:r>
              <a:rPr lang="es-MX" dirty="0" err="1"/>
              <a:t>wos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Hired/Non-Owned</a:t>
            </a:r>
          </a:p>
          <a:p>
            <a:r>
              <a:rPr lang="en-US" dirty="0"/>
              <a:t>• UM/UIM</a:t>
            </a:r>
          </a:p>
          <a:p>
            <a:r>
              <a:rPr lang="en-US" dirty="0"/>
              <a:t>• PIP</a:t>
            </a:r>
          </a:p>
          <a:p>
            <a:r>
              <a:rPr lang="en-US" dirty="0"/>
              <a:t>• UIIA Endorsement</a:t>
            </a:r>
          </a:p>
          <a:p>
            <a:r>
              <a:rPr lang="en-US" dirty="0"/>
              <a:t>• Blanket Additional Insured with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Waiver of Subrogation</a:t>
            </a:r>
            <a:endParaRPr lang="en-US" dirty="0"/>
          </a:p>
        </p:txBody>
      </p:sp>
      <p:pic>
        <p:nvPicPr>
          <p:cNvPr id="7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62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 smtClean="0"/>
              <a:t>Notes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1678" y="1346670"/>
            <a:ext cx="9875601" cy="5308130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 the commodities are 50% </a:t>
            </a:r>
            <a:r>
              <a:rPr lang="en-US" sz="4000" dirty="0" err="1"/>
              <a:t>frac</a:t>
            </a:r>
            <a:r>
              <a:rPr lang="en-US" sz="4000" dirty="0"/>
              <a:t> sand and 50% sand and gravel.. we cannot have mixed loads. For the current policy you have 100% </a:t>
            </a:r>
            <a:r>
              <a:rPr lang="en-US" sz="4000" dirty="0" err="1"/>
              <a:t>frac</a:t>
            </a:r>
            <a:r>
              <a:rPr lang="en-US" sz="4000" dirty="0"/>
              <a:t> sand. Please let me know if you want to do either 100% sand and gravel or </a:t>
            </a:r>
            <a:r>
              <a:rPr lang="en-US" sz="4000" dirty="0" smtClean="0"/>
              <a:t>100</a:t>
            </a:r>
            <a:r>
              <a:rPr lang="en-US" sz="4000" dirty="0"/>
              <a:t>% </a:t>
            </a:r>
            <a:r>
              <a:rPr lang="en-US" sz="4000" dirty="0" err="1"/>
              <a:t>frac</a:t>
            </a:r>
            <a:r>
              <a:rPr lang="en-US" sz="4000" dirty="0"/>
              <a:t> sand but we cannot do both</a:t>
            </a:r>
            <a:r>
              <a:rPr lang="en-US" sz="4000" dirty="0" smtClean="0"/>
              <a:t>.</a:t>
            </a:r>
          </a:p>
          <a:p>
            <a:pPr>
              <a:lnSpc>
                <a:spcPct val="150000"/>
              </a:lnSpc>
            </a:pPr>
            <a:endParaRPr lang="es-MX" sz="4000" dirty="0"/>
          </a:p>
          <a:p>
            <a:r>
              <a:rPr lang="en-US" sz="4400" dirty="0"/>
              <a:t>1 – 10 Power Units</a:t>
            </a:r>
          </a:p>
          <a:p>
            <a:r>
              <a:rPr lang="en-US" sz="4400" dirty="0"/>
              <a:t>• Operations based in Texas or Oklahoma</a:t>
            </a:r>
          </a:p>
          <a:p>
            <a:r>
              <a:rPr lang="en-US" sz="4400" dirty="0"/>
              <a:t>• New Ventures with 2+ years </a:t>
            </a:r>
            <a:r>
              <a:rPr lang="en-US" sz="4400" dirty="0" smtClean="0"/>
              <a:t>of experience</a:t>
            </a:r>
            <a:endParaRPr lang="en-US" sz="4400" dirty="0"/>
          </a:p>
          <a:p>
            <a:r>
              <a:rPr lang="en-US" sz="4400" dirty="0"/>
              <a:t>• International drivers considered</a:t>
            </a:r>
          </a:p>
          <a:p>
            <a:r>
              <a:rPr lang="en-US" sz="4400" dirty="0"/>
              <a:t>• Exceptional, Average, or </a:t>
            </a:r>
            <a:r>
              <a:rPr lang="en-US" sz="4400" dirty="0" smtClean="0"/>
              <a:t>Challenging risks </a:t>
            </a:r>
            <a:r>
              <a:rPr lang="en-US" sz="4400" dirty="0"/>
              <a:t>considered</a:t>
            </a:r>
            <a:endParaRPr lang="en-US" sz="4000" dirty="0" smtClean="0"/>
          </a:p>
          <a:p>
            <a:pPr>
              <a:lnSpc>
                <a:spcPct val="150000"/>
              </a:lnSpc>
            </a:pPr>
            <a:endParaRPr lang="es-MX" sz="1400" dirty="0" smtClean="0"/>
          </a:p>
          <a:p>
            <a:pPr>
              <a:lnSpc>
                <a:spcPct val="150000"/>
              </a:lnSpc>
            </a:pPr>
            <a:r>
              <a:rPr lang="es-MX" sz="5000" dirty="0" smtClean="0"/>
              <a:t>NUNCA SON PRIMERAS OPCIONES</a:t>
            </a:r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  <p:pic>
        <p:nvPicPr>
          <p:cNvPr id="7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3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Submission Requirements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• </a:t>
            </a:r>
            <a:r>
              <a:rPr lang="en-US" dirty="0"/>
              <a:t>Completed application**</a:t>
            </a:r>
          </a:p>
          <a:p>
            <a:r>
              <a:rPr lang="en-US" dirty="0"/>
              <a:t>• Equipment list with complete VINs, including physical damage values</a:t>
            </a:r>
          </a:p>
          <a:p>
            <a:r>
              <a:rPr lang="en-US" dirty="0"/>
              <a:t>• Driver’s list including experience and dates of hire</a:t>
            </a:r>
          </a:p>
          <a:p>
            <a:r>
              <a:rPr lang="en-US" dirty="0"/>
              <a:t>• Commodities including average and max values and percentages of each</a:t>
            </a:r>
          </a:p>
          <a:p>
            <a:r>
              <a:rPr lang="en-US" dirty="0"/>
              <a:t>• Currently valued 3-year loss runs</a:t>
            </a:r>
          </a:p>
          <a:p>
            <a:r>
              <a:rPr lang="en-US" dirty="0"/>
              <a:t>• New venture/driver supplement is required for operations with less than 2 years of experience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3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QUOTE VIA PORTAL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2" descr="About – Treaty Oak General Agenc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5" y="5005644"/>
            <a:ext cx="2343785" cy="1372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55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41</TotalTime>
  <Words>200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MS Shell Dlg 2</vt:lpstr>
      <vt:lpstr>Wingdings</vt:lpstr>
      <vt:lpstr>Wingdings 3</vt:lpstr>
      <vt:lpstr>Madison</vt:lpstr>
      <vt:lpstr> TREATY </vt:lpstr>
      <vt:lpstr>Carriers </vt:lpstr>
      <vt:lpstr>TIPOS DE NEGOCIOS  </vt:lpstr>
      <vt:lpstr>Radio de operacion</vt:lpstr>
      <vt:lpstr>Drivers / unidades</vt:lpstr>
      <vt:lpstr>Coberturas</vt:lpstr>
      <vt:lpstr>additional &amp; wos</vt:lpstr>
      <vt:lpstr>Notes  </vt:lpstr>
      <vt:lpstr>Submission Requirements </vt:lpstr>
      <vt:lpstr>QUOTE VIA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Paramount </dc:title>
  <dc:creator>pp</dc:creator>
  <cp:lastModifiedBy>pp</cp:lastModifiedBy>
  <cp:revision>9</cp:revision>
  <dcterms:created xsi:type="dcterms:W3CDTF">2025-05-27T17:49:18Z</dcterms:created>
  <dcterms:modified xsi:type="dcterms:W3CDTF">2025-10-10T19:41:34Z</dcterms:modified>
</cp:coreProperties>
</file>